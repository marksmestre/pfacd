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1" r:id="rId4"/>
  </p:sldMasterIdLst>
  <p:notesMasterIdLst>
    <p:notesMasterId r:id="rId14"/>
  </p:notesMasterIdLst>
  <p:handoutMasterIdLst>
    <p:handoutMasterId r:id="rId15"/>
  </p:handoutMasterIdLst>
  <p:sldIdLst>
    <p:sldId id="342" r:id="rId5"/>
    <p:sldId id="534" r:id="rId6"/>
    <p:sldId id="536" r:id="rId7"/>
    <p:sldId id="502" r:id="rId8"/>
    <p:sldId id="545" r:id="rId9"/>
    <p:sldId id="539" r:id="rId10"/>
    <p:sldId id="546" r:id="rId11"/>
    <p:sldId id="542" r:id="rId12"/>
    <p:sldId id="540" r:id="rId1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8EB8"/>
    <a:srgbClr val="F34E13"/>
    <a:srgbClr val="FF9B71"/>
    <a:srgbClr val="FD806F"/>
    <a:srgbClr val="FFFFFF"/>
    <a:srgbClr val="0D29C2"/>
    <a:srgbClr val="14BFB8"/>
    <a:srgbClr val="24B747"/>
    <a:srgbClr val="E21F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FE5FEA-BAEE-415C-B1F4-0A91CCF6E90D}" v="913" dt="2026-02-25T00:03:26.924"/>
    <p1510:client id="{DB3F4908-B18E-5129-E64E-B967B40D25C3}" v="335" dt="2026-02-25T00:02:16.218"/>
    <p1510:client id="{E5F03BA4-0820-7018-2161-72ED6F55D369}" v="14" dt="2026-02-25T00:01:48.815"/>
    <p1510:client id="{E638E79B-28BB-85C5-7E35-B03A56992615}" v="2" dt="2026-02-25T14:44:13.732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–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86"/>
    <p:restoredTop sz="94753"/>
  </p:normalViewPr>
  <p:slideViewPr>
    <p:cSldViewPr snapToGrid="0">
      <p:cViewPr>
        <p:scale>
          <a:sx n="38" d="100"/>
          <a:sy n="38" d="100"/>
        </p:scale>
        <p:origin x="9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456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6230e860-bfc5-4095-a6bc-104721add6e6::" providerId="AD" clId="Web-{E638E79B-28BB-85C5-7E35-B03A56992615}"/>
    <pc:docChg chg="addSld delSld">
      <pc:chgData name="Guest User" userId="S::urn:spo:tenantanon#6230e860-bfc5-4095-a6bc-104721add6e6::" providerId="AD" clId="Web-{E638E79B-28BB-85C5-7E35-B03A56992615}" dt="2026-02-25T14:44:13.732" v="1"/>
      <pc:docMkLst>
        <pc:docMk/>
      </pc:docMkLst>
      <pc:sldChg chg="new del">
        <pc:chgData name="Guest User" userId="S::urn:spo:tenantanon#6230e860-bfc5-4095-a6bc-104721add6e6::" providerId="AD" clId="Web-{E638E79B-28BB-85C5-7E35-B03A56992615}" dt="2026-02-25T14:44:13.732" v="1"/>
        <pc:sldMkLst>
          <pc:docMk/>
          <pc:sldMk cId="3184048100" sldId="54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23BE46B-34DD-4C18-8B2E-E01609AE284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pt-PT" dirty="0"/>
              <a:t>PFACD @ </a:t>
            </a:r>
            <a:r>
              <a:rPr lang="pt-PT" dirty="0" err="1"/>
              <a:t>Iscte</a:t>
            </a:r>
            <a:endParaRPr lang="pt-PT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082A73-7C73-4831-8F2B-00F7E23C57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9AE7BC-2CF4-48E6-8E80-45B90E4ED4FA}" type="datetimeFigureOut">
              <a:rPr lang="pt-PT" smtClean="0"/>
              <a:t>25/02/2026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3EDDDB-0E9C-4494-A31F-64DBFCB590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D49EFF-6921-4200-971C-0438C1E2AE2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4AFF96-5204-4AD4-A02E-649561A79C3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937086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0" name="Shape 6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24DBC4-4257-CD4E-95EC-C7F48AF870FD}" type="slidenum">
              <a:rPr lang="en-PT" smtClean="0"/>
              <a:t>1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2908126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2E701-14BE-BFB0-0401-4E5283BFC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57841AC7-7BE1-D907-4DF5-0098ADA362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79F10D75-504A-4EEE-0C61-9697059C59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931D870-F1A9-3DF8-76CB-960C5E9404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334030-A8E3-0D40-9E08-1DE4AEB632B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1452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334030-A8E3-0D40-9E08-1DE4AEB632B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571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2B98C-938C-5EB2-BA57-378A08BCC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F99F2A6F-3D35-667B-57C9-3B389F46E7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35B94D38-F09A-9C11-B502-43B84E243D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AC6D00B-9A30-3166-3E9D-4B19525395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334030-A8E3-0D40-9E08-1DE4AEB632B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9455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296460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creativecommons.org/licenses/by-nc-sa/4.0/?ref=chooser-v1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1" y="2244727"/>
            <a:ext cx="18288000" cy="4775199"/>
          </a:xfrm>
        </p:spPr>
        <p:txBody>
          <a:bodyPr anchor="b">
            <a:normAutofit/>
          </a:bodyPr>
          <a:lstStyle>
            <a:lvl1pPr algn="ctr">
              <a:defRPr sz="769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1" y="7204076"/>
            <a:ext cx="18288000" cy="3311524"/>
          </a:xfrm>
        </p:spPr>
        <p:txBody>
          <a:bodyPr/>
          <a:lstStyle>
            <a:lvl1pPr marL="0" indent="0" algn="ctr">
              <a:buNone/>
              <a:defRPr sz="513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914393" indent="0" algn="ctr">
              <a:buNone/>
              <a:defRPr sz="3999"/>
            </a:lvl2pPr>
            <a:lvl3pPr marL="1828786" indent="0" algn="ctr">
              <a:buNone/>
              <a:defRPr sz="3601"/>
            </a:lvl3pPr>
            <a:lvl4pPr marL="2743181" indent="0" algn="ctr">
              <a:buNone/>
              <a:defRPr sz="3200"/>
            </a:lvl4pPr>
            <a:lvl5pPr marL="3657574" indent="0" algn="ctr">
              <a:buNone/>
              <a:defRPr sz="3200"/>
            </a:lvl5pPr>
            <a:lvl6pPr marL="4571967" indent="0" algn="ctr">
              <a:buNone/>
              <a:defRPr sz="3200"/>
            </a:lvl6pPr>
            <a:lvl7pPr marL="5486361" indent="0" algn="ctr">
              <a:buNone/>
              <a:defRPr sz="3200"/>
            </a:lvl7pPr>
            <a:lvl8pPr marL="6400755" indent="0" algn="ctr">
              <a:buNone/>
              <a:defRPr sz="3200"/>
            </a:lvl8pPr>
            <a:lvl9pPr marL="7315148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4" name="AutoShape 17">
            <a:hlinkClick r:id="rId2"/>
            <a:extLst>
              <a:ext uri="{FF2B5EF4-FFF2-40B4-BE49-F238E27FC236}">
                <a16:creationId xmlns:a16="http://schemas.microsoft.com/office/drawing/2014/main" id="{77A1F348-A8BB-6E51-7F5B-98A2D7B67D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898905" y="2541281"/>
            <a:ext cx="116592" cy="29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17286" tIns="58643" rIns="117286" bIns="58643" numCol="1" anchor="t" anchorCtr="0" compatLnSpc="1">
            <a:prstTxWarp prst="textNoShape">
              <a:avLst/>
            </a:prstTxWarp>
          </a:bodyPr>
          <a:lstStyle/>
          <a:p>
            <a:endParaRPr lang="en-PT" sz="3848"/>
          </a:p>
        </p:txBody>
      </p:sp>
      <p:sp>
        <p:nvSpPr>
          <p:cNvPr id="25" name="AutoShape 18">
            <a:extLst>
              <a:ext uri="{FF2B5EF4-FFF2-40B4-BE49-F238E27FC236}">
                <a16:creationId xmlns:a16="http://schemas.microsoft.com/office/drawing/2014/main" id="{F5964C3F-7890-9A21-FD89-823C9F8020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428328" y="2541281"/>
            <a:ext cx="116592" cy="29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17286" tIns="58643" rIns="117286" bIns="58643" numCol="1" anchor="t" anchorCtr="0" compatLnSpc="1">
            <a:prstTxWarp prst="textNoShape">
              <a:avLst/>
            </a:prstTxWarp>
          </a:bodyPr>
          <a:lstStyle/>
          <a:p>
            <a:endParaRPr lang="en-PT" sz="3848"/>
          </a:p>
        </p:txBody>
      </p:sp>
      <p:sp>
        <p:nvSpPr>
          <p:cNvPr id="26" name="AutoShape 19">
            <a:extLst>
              <a:ext uri="{FF2B5EF4-FFF2-40B4-BE49-F238E27FC236}">
                <a16:creationId xmlns:a16="http://schemas.microsoft.com/office/drawing/2014/main" id="{B2897CAF-FECF-E21C-A697-00C21380765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957751" y="2541281"/>
            <a:ext cx="116592" cy="29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17286" tIns="58643" rIns="117286" bIns="58643" numCol="1" anchor="t" anchorCtr="0" compatLnSpc="1">
            <a:prstTxWarp prst="textNoShape">
              <a:avLst/>
            </a:prstTxWarp>
          </a:bodyPr>
          <a:lstStyle/>
          <a:p>
            <a:endParaRPr lang="en-PT" sz="3848"/>
          </a:p>
        </p:txBody>
      </p:sp>
      <p:sp>
        <p:nvSpPr>
          <p:cNvPr id="27" name="AutoShape 20">
            <a:extLst>
              <a:ext uri="{FF2B5EF4-FFF2-40B4-BE49-F238E27FC236}">
                <a16:creationId xmlns:a16="http://schemas.microsoft.com/office/drawing/2014/main" id="{0D86BAD0-1AD1-E078-D54C-9357A1E769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487174" y="2541281"/>
            <a:ext cx="116592" cy="29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17286" tIns="58643" rIns="117286" bIns="58643" numCol="1" anchor="t" anchorCtr="0" compatLnSpc="1">
            <a:prstTxWarp prst="textNoShape">
              <a:avLst/>
            </a:prstTxWarp>
          </a:bodyPr>
          <a:lstStyle/>
          <a:p>
            <a:endParaRPr lang="en-PT" sz="3848"/>
          </a:p>
        </p:txBody>
      </p:sp>
      <p:pic>
        <p:nvPicPr>
          <p:cNvPr id="10" name="Picture 9" descr="A blue and black logo&#10;&#10;AI-generated content may be incorrect.">
            <a:extLst>
              <a:ext uri="{FF2B5EF4-FFF2-40B4-BE49-F238E27FC236}">
                <a16:creationId xmlns:a16="http://schemas.microsoft.com/office/drawing/2014/main" id="{83A9548D-6477-E685-A1C0-B1B51BE6C2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68818" y="11164509"/>
            <a:ext cx="4830659" cy="1414014"/>
          </a:xfrm>
          <a:prstGeom prst="rect">
            <a:avLst/>
          </a:prstGeom>
        </p:spPr>
      </p:pic>
      <p:pic>
        <p:nvPicPr>
          <p:cNvPr id="12" name="Picture 11" descr="A red and black logo&#10;&#10;AI-generated content may be incorrect.">
            <a:extLst>
              <a:ext uri="{FF2B5EF4-FFF2-40B4-BE49-F238E27FC236}">
                <a16:creationId xmlns:a16="http://schemas.microsoft.com/office/drawing/2014/main" id="{B5AD9EA6-AC18-3958-7D59-37B83023142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968" y="11214812"/>
            <a:ext cx="4418289" cy="1412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064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6885" y="293995"/>
            <a:ext cx="22141155" cy="1756221"/>
          </a:xfrm>
        </p:spPr>
        <p:txBody>
          <a:bodyPr>
            <a:noAutofit/>
          </a:bodyPr>
          <a:lstStyle>
            <a:lvl1pPr>
              <a:defRPr sz="4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6885" y="2613140"/>
            <a:ext cx="22181884" cy="9494743"/>
          </a:xfrm>
        </p:spPr>
        <p:txBody>
          <a:bodyPr>
            <a:no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6F15528-21DE-4FAA-801E-634DDDAF4B2B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AA85D-0547-7853-46DC-3C489D34CE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67257" y="12712701"/>
            <a:ext cx="5486399" cy="7302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cs-CZ" dirty="0"/>
              <a:t>PFACD </a:t>
            </a:r>
          </a:p>
          <a:p>
            <a:r>
              <a:rPr lang="en-US" dirty="0"/>
              <a:t>2025/2026</a:t>
            </a:r>
          </a:p>
        </p:txBody>
      </p:sp>
    </p:spTree>
    <p:extLst>
      <p:ext uri="{BB962C8B-B14F-4D97-AF65-F5344CB8AC3E}">
        <p14:creationId xmlns:p14="http://schemas.microsoft.com/office/powerpoint/2010/main" val="329704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1" y="3325647"/>
            <a:ext cx="21031200" cy="5705475"/>
          </a:xfrm>
        </p:spPr>
        <p:txBody>
          <a:bodyPr anchor="b">
            <a:normAutofit/>
          </a:bodyPr>
          <a:lstStyle>
            <a:lvl1pPr algn="r">
              <a:defRPr sz="6927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1" y="9178928"/>
            <a:ext cx="21031200" cy="3000373"/>
          </a:xfrm>
        </p:spPr>
        <p:txBody>
          <a:bodyPr/>
          <a:lstStyle>
            <a:lvl1pPr marL="0" indent="0" algn="r">
              <a:buNone/>
              <a:defRPr sz="4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393" indent="0">
              <a:buNone/>
              <a:defRPr sz="3999">
                <a:solidFill>
                  <a:schemeClr val="tx1">
                    <a:tint val="75000"/>
                  </a:schemeClr>
                </a:solidFill>
              </a:defRPr>
            </a:lvl2pPr>
            <a:lvl3pPr marL="1828786" indent="0">
              <a:buNone/>
              <a:defRPr sz="3601">
                <a:solidFill>
                  <a:schemeClr val="tx1">
                    <a:tint val="75000"/>
                  </a:schemeClr>
                </a:solidFill>
              </a:defRPr>
            </a:lvl3pPr>
            <a:lvl4pPr marL="2743181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574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1967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361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755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148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9B014BB-670F-20F6-F269-588B61C361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67257" y="12712701"/>
            <a:ext cx="5486399" cy="7302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cs-CZ" dirty="0"/>
              <a:t>PFACD </a:t>
            </a:r>
          </a:p>
          <a:p>
            <a:r>
              <a:rPr lang="en-US" dirty="0"/>
              <a:t>2025/2026</a:t>
            </a:r>
          </a:p>
        </p:txBody>
      </p:sp>
    </p:spTree>
    <p:extLst>
      <p:ext uri="{BB962C8B-B14F-4D97-AF65-F5344CB8AC3E}">
        <p14:creationId xmlns:p14="http://schemas.microsoft.com/office/powerpoint/2010/main" val="3578869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8153" y="273048"/>
            <a:ext cx="21999319" cy="1654606"/>
          </a:xfrm>
        </p:spPr>
        <p:txBody>
          <a:bodyPr>
            <a:normAutofit/>
          </a:bodyPr>
          <a:lstStyle>
            <a:lvl1pPr>
              <a:defRPr sz="4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8153" y="2662760"/>
            <a:ext cx="10881447" cy="9567596"/>
          </a:xfrm>
        </p:spPr>
        <p:txBody>
          <a:bodyPr>
            <a:normAutofit/>
          </a:bodyPr>
          <a:lstStyle>
            <a:lvl1pPr>
              <a:defRPr sz="3078"/>
            </a:lvl1pPr>
            <a:lvl2pPr>
              <a:defRPr sz="3078"/>
            </a:lvl2pPr>
            <a:lvl3pPr>
              <a:defRPr sz="3078"/>
            </a:lvl3pPr>
            <a:lvl4pPr>
              <a:defRPr sz="3078"/>
            </a:lvl4pPr>
            <a:lvl5pPr>
              <a:defRPr sz="3078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2662759"/>
            <a:ext cx="10813072" cy="9567596"/>
          </a:xfrm>
        </p:spPr>
        <p:txBody>
          <a:bodyPr>
            <a:normAutofit/>
          </a:bodyPr>
          <a:lstStyle>
            <a:lvl1pPr>
              <a:defRPr sz="3078"/>
            </a:lvl1pPr>
            <a:lvl2pPr>
              <a:defRPr sz="3078"/>
            </a:lvl2pPr>
            <a:lvl3pPr>
              <a:defRPr sz="3078"/>
            </a:lvl3pPr>
            <a:lvl4pPr>
              <a:defRPr sz="3078"/>
            </a:lvl4pPr>
            <a:lvl5pPr>
              <a:defRPr sz="3078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33A9C177-2723-9883-AD7A-BDB3B33128D1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267257" y="12712701"/>
            <a:ext cx="5486399" cy="7302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cs-CZ" dirty="0"/>
              <a:t>PFACD </a:t>
            </a:r>
          </a:p>
          <a:p>
            <a:r>
              <a:rPr lang="en-US" dirty="0"/>
              <a:t>2025/2026</a:t>
            </a:r>
          </a:p>
        </p:txBody>
      </p:sp>
    </p:spTree>
    <p:extLst>
      <p:ext uri="{BB962C8B-B14F-4D97-AF65-F5344CB8AC3E}">
        <p14:creationId xmlns:p14="http://schemas.microsoft.com/office/powerpoint/2010/main" val="3901873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1329" y="480731"/>
            <a:ext cx="21968867" cy="1946826"/>
          </a:xfrm>
        </p:spPr>
        <p:txBody>
          <a:bodyPr>
            <a:noAutofit/>
          </a:bodyPr>
          <a:lstStyle>
            <a:lvl1pPr>
              <a:defRPr sz="461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1329" y="2741044"/>
            <a:ext cx="10833823" cy="1647823"/>
          </a:xfrm>
        </p:spPr>
        <p:txBody>
          <a:bodyPr anchor="b">
            <a:noAutofit/>
          </a:bodyPr>
          <a:lstStyle>
            <a:lvl1pPr marL="0" indent="0">
              <a:buNone/>
              <a:defRPr sz="3592" b="1"/>
            </a:lvl1pPr>
            <a:lvl2pPr marL="914393" indent="0">
              <a:buNone/>
              <a:defRPr sz="3999" b="1"/>
            </a:lvl2pPr>
            <a:lvl3pPr marL="1828786" indent="0">
              <a:buNone/>
              <a:defRPr sz="3601" b="1"/>
            </a:lvl3pPr>
            <a:lvl4pPr marL="2743181" indent="0">
              <a:buNone/>
              <a:defRPr sz="3200" b="1"/>
            </a:lvl4pPr>
            <a:lvl5pPr marL="3657574" indent="0">
              <a:buNone/>
              <a:defRPr sz="3200" b="1"/>
            </a:lvl5pPr>
            <a:lvl6pPr marL="4571967" indent="0">
              <a:buNone/>
              <a:defRPr sz="3200" b="1"/>
            </a:lvl6pPr>
            <a:lvl7pPr marL="5486361" indent="0">
              <a:buNone/>
              <a:defRPr sz="3200" b="1"/>
            </a:lvl7pPr>
            <a:lvl8pPr marL="6400755" indent="0">
              <a:buNone/>
              <a:defRPr sz="3200" b="1"/>
            </a:lvl8pPr>
            <a:lvl9pPr marL="7315148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61329" y="4694831"/>
            <a:ext cx="10833823" cy="7684495"/>
          </a:xfrm>
        </p:spPr>
        <p:txBody>
          <a:bodyPr>
            <a:noAutofit/>
          </a:bodyPr>
          <a:lstStyle>
            <a:lvl1pPr>
              <a:defRPr sz="3078"/>
            </a:lvl1pPr>
            <a:lvl2pPr>
              <a:defRPr sz="3078"/>
            </a:lvl2pPr>
            <a:lvl3pPr>
              <a:defRPr sz="3078"/>
            </a:lvl3pPr>
            <a:lvl4pPr>
              <a:defRPr sz="3078"/>
            </a:lvl4pPr>
            <a:lvl5pPr>
              <a:defRPr sz="3078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88850" y="2740908"/>
            <a:ext cx="10741346" cy="1647823"/>
          </a:xfrm>
        </p:spPr>
        <p:txBody>
          <a:bodyPr anchor="b">
            <a:noAutofit/>
          </a:bodyPr>
          <a:lstStyle>
            <a:lvl1pPr marL="0" indent="0">
              <a:buNone/>
              <a:defRPr sz="3592" b="1"/>
            </a:lvl1pPr>
            <a:lvl2pPr marL="914393" indent="0">
              <a:buNone/>
              <a:defRPr sz="3999" b="1"/>
            </a:lvl2pPr>
            <a:lvl3pPr marL="1828786" indent="0">
              <a:buNone/>
              <a:defRPr sz="3601" b="1"/>
            </a:lvl3pPr>
            <a:lvl4pPr marL="2743181" indent="0">
              <a:buNone/>
              <a:defRPr sz="3200" b="1"/>
            </a:lvl4pPr>
            <a:lvl5pPr marL="3657574" indent="0">
              <a:buNone/>
              <a:defRPr sz="3200" b="1"/>
            </a:lvl5pPr>
            <a:lvl6pPr marL="4571967" indent="0">
              <a:buNone/>
              <a:defRPr sz="3200" b="1"/>
            </a:lvl6pPr>
            <a:lvl7pPr marL="5486361" indent="0">
              <a:buNone/>
              <a:defRPr sz="3200" b="1"/>
            </a:lvl7pPr>
            <a:lvl8pPr marL="6400755" indent="0">
              <a:buNone/>
              <a:defRPr sz="3200" b="1"/>
            </a:lvl8pPr>
            <a:lvl9pPr marL="7315148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88850" y="4694831"/>
            <a:ext cx="10741346" cy="7684495"/>
          </a:xfrm>
        </p:spPr>
        <p:txBody>
          <a:bodyPr>
            <a:noAutofit/>
          </a:bodyPr>
          <a:lstStyle>
            <a:lvl1pPr>
              <a:defRPr sz="3078"/>
            </a:lvl1pPr>
            <a:lvl2pPr>
              <a:defRPr sz="3078"/>
            </a:lvl2pPr>
            <a:lvl3pPr>
              <a:defRPr sz="3078"/>
            </a:lvl3pPr>
            <a:lvl4pPr>
              <a:defRPr sz="3078"/>
            </a:lvl4pPr>
            <a:lvl5pPr>
              <a:defRPr sz="3078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02AE248C-2466-DF17-68B5-01864CDB555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267257" y="12712701"/>
            <a:ext cx="5486399" cy="7302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cs-CZ" dirty="0"/>
              <a:t>PFACD </a:t>
            </a:r>
          </a:p>
          <a:p>
            <a:r>
              <a:rPr lang="en-US" dirty="0"/>
              <a:t>2025/2026</a:t>
            </a:r>
          </a:p>
        </p:txBody>
      </p:sp>
    </p:spTree>
    <p:extLst>
      <p:ext uri="{BB962C8B-B14F-4D97-AF65-F5344CB8AC3E}">
        <p14:creationId xmlns:p14="http://schemas.microsoft.com/office/powerpoint/2010/main" val="2447504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5430" y="354876"/>
            <a:ext cx="22162976" cy="2181785"/>
          </a:xfrm>
        </p:spPr>
        <p:txBody>
          <a:bodyPr>
            <a:normAutofit/>
          </a:bodyPr>
          <a:lstStyle>
            <a:lvl1pPr>
              <a:defRPr sz="513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2B263-5D89-C303-A0C2-399973E621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67257" y="12712701"/>
            <a:ext cx="5486399" cy="7302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cs-CZ" dirty="0"/>
              <a:t>PFACD </a:t>
            </a:r>
          </a:p>
          <a:p>
            <a:r>
              <a:rPr lang="en-US" dirty="0"/>
              <a:t>2025/2026</a:t>
            </a:r>
          </a:p>
        </p:txBody>
      </p:sp>
    </p:spTree>
    <p:extLst>
      <p:ext uri="{BB962C8B-B14F-4D97-AF65-F5344CB8AC3E}">
        <p14:creationId xmlns:p14="http://schemas.microsoft.com/office/powerpoint/2010/main" val="2577850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0C4BC1C-6B33-585D-930D-B80C307F4B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67257" y="12712701"/>
            <a:ext cx="5486399" cy="7302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cs-CZ" dirty="0"/>
              <a:t>PFACD </a:t>
            </a:r>
          </a:p>
          <a:p>
            <a:r>
              <a:rPr lang="en-US" dirty="0"/>
              <a:t>2025/2026</a:t>
            </a:r>
          </a:p>
        </p:txBody>
      </p:sp>
    </p:spTree>
    <p:extLst>
      <p:ext uri="{BB962C8B-B14F-4D97-AF65-F5344CB8AC3E}">
        <p14:creationId xmlns:p14="http://schemas.microsoft.com/office/powerpoint/2010/main" val="944203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7710" y="532538"/>
            <a:ext cx="7864474" cy="2225676"/>
          </a:xfrm>
        </p:spPr>
        <p:txBody>
          <a:bodyPr anchor="b"/>
          <a:lstStyle>
            <a:lvl1pPr>
              <a:defRPr sz="63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28489" y="532538"/>
            <a:ext cx="13692639" cy="11189563"/>
          </a:xfrm>
        </p:spPr>
        <p:txBody>
          <a:bodyPr/>
          <a:lstStyle>
            <a:lvl1pPr>
              <a:defRPr sz="4105"/>
            </a:lvl1pPr>
            <a:lvl2pPr>
              <a:defRPr sz="4105"/>
            </a:lvl2pPr>
            <a:lvl3pPr>
              <a:defRPr sz="4105"/>
            </a:lvl3pPr>
            <a:lvl4pPr>
              <a:defRPr sz="4105"/>
            </a:lvl4pPr>
            <a:lvl5pPr>
              <a:defRPr sz="4105"/>
            </a:lvl5pPr>
            <a:lvl6pPr>
              <a:defRPr sz="3999"/>
            </a:lvl6pPr>
            <a:lvl7pPr>
              <a:defRPr sz="3999"/>
            </a:lvl7pPr>
            <a:lvl8pPr>
              <a:defRPr sz="3999"/>
            </a:lvl8pPr>
            <a:lvl9pPr>
              <a:defRPr sz="39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7710" y="3046412"/>
            <a:ext cx="7864474" cy="8675689"/>
          </a:xfrm>
        </p:spPr>
        <p:txBody>
          <a:bodyPr/>
          <a:lstStyle>
            <a:lvl1pPr marL="0" indent="0">
              <a:buNone/>
              <a:defRPr sz="3592"/>
            </a:lvl1pPr>
            <a:lvl2pPr marL="914393" indent="0">
              <a:buNone/>
              <a:defRPr sz="2800"/>
            </a:lvl2pPr>
            <a:lvl3pPr marL="1828786" indent="0">
              <a:buNone/>
              <a:defRPr sz="2400"/>
            </a:lvl3pPr>
            <a:lvl4pPr marL="2743181" indent="0">
              <a:buNone/>
              <a:defRPr sz="2000"/>
            </a:lvl4pPr>
            <a:lvl5pPr marL="3657574" indent="0">
              <a:buNone/>
              <a:defRPr sz="2000"/>
            </a:lvl5pPr>
            <a:lvl6pPr marL="4571967" indent="0">
              <a:buNone/>
              <a:defRPr sz="2000"/>
            </a:lvl6pPr>
            <a:lvl7pPr marL="5486361" indent="0">
              <a:buNone/>
              <a:defRPr sz="2000"/>
            </a:lvl7pPr>
            <a:lvl8pPr marL="6400755" indent="0">
              <a:buNone/>
              <a:defRPr sz="2000"/>
            </a:lvl8pPr>
            <a:lvl9pPr marL="7315148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FF250C6-4CB4-B9E1-D8C0-10B319B9BBF7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267257" y="12712701"/>
            <a:ext cx="5486399" cy="7302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cs-CZ" dirty="0"/>
              <a:t>PFACD </a:t>
            </a:r>
          </a:p>
          <a:p>
            <a:r>
              <a:rPr lang="en-US" dirty="0"/>
              <a:t>2025/2026</a:t>
            </a:r>
          </a:p>
        </p:txBody>
      </p:sp>
    </p:spTree>
    <p:extLst>
      <p:ext uri="{BB962C8B-B14F-4D97-AF65-F5344CB8AC3E}">
        <p14:creationId xmlns:p14="http://schemas.microsoft.com/office/powerpoint/2010/main" val="2543415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3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360023" y="1359097"/>
            <a:ext cx="12344400" cy="9747250"/>
          </a:xfrm>
        </p:spPr>
        <p:txBody>
          <a:bodyPr anchor="t"/>
          <a:lstStyle>
            <a:lvl1pPr marL="0" indent="0">
              <a:buNone/>
              <a:defRPr sz="6399"/>
            </a:lvl1pPr>
            <a:lvl2pPr marL="914393" indent="0">
              <a:buNone/>
              <a:defRPr sz="5600"/>
            </a:lvl2pPr>
            <a:lvl3pPr marL="1828786" indent="0">
              <a:buNone/>
              <a:defRPr sz="4800"/>
            </a:lvl3pPr>
            <a:lvl4pPr marL="2743181" indent="0">
              <a:buNone/>
              <a:defRPr sz="3999"/>
            </a:lvl4pPr>
            <a:lvl5pPr marL="3657574" indent="0">
              <a:buNone/>
              <a:defRPr sz="3999"/>
            </a:lvl5pPr>
            <a:lvl6pPr marL="4571967" indent="0">
              <a:buNone/>
              <a:defRPr sz="3999"/>
            </a:lvl6pPr>
            <a:lvl7pPr marL="5486361" indent="0">
              <a:buNone/>
              <a:defRPr sz="3999"/>
            </a:lvl7pPr>
            <a:lvl8pPr marL="6400755" indent="0">
              <a:buNone/>
              <a:defRPr sz="3999"/>
            </a:lvl8pPr>
            <a:lvl9pPr marL="7315148" indent="0">
              <a:buNone/>
              <a:defRPr sz="3999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393" indent="0">
              <a:buNone/>
              <a:defRPr sz="2800"/>
            </a:lvl2pPr>
            <a:lvl3pPr marL="1828786" indent="0">
              <a:buNone/>
              <a:defRPr sz="2400"/>
            </a:lvl3pPr>
            <a:lvl4pPr marL="2743181" indent="0">
              <a:buNone/>
              <a:defRPr sz="2000"/>
            </a:lvl4pPr>
            <a:lvl5pPr marL="3657574" indent="0">
              <a:buNone/>
              <a:defRPr sz="2000"/>
            </a:lvl5pPr>
            <a:lvl6pPr marL="4571967" indent="0">
              <a:buNone/>
              <a:defRPr sz="2000"/>
            </a:lvl6pPr>
            <a:lvl7pPr marL="5486361" indent="0">
              <a:buNone/>
              <a:defRPr sz="2000"/>
            </a:lvl7pPr>
            <a:lvl8pPr marL="6400755" indent="0">
              <a:buNone/>
              <a:defRPr sz="2000"/>
            </a:lvl8pPr>
            <a:lvl9pPr marL="7315148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1FD92D4-C285-45D6-4154-12611C52E91F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267257" y="12712701"/>
            <a:ext cx="5486399" cy="7302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cs-CZ" dirty="0"/>
              <a:t>PFACD </a:t>
            </a:r>
          </a:p>
          <a:p>
            <a:r>
              <a:rPr lang="en-US" dirty="0"/>
              <a:t>2025/2026</a:t>
            </a:r>
          </a:p>
        </p:txBody>
      </p:sp>
    </p:spTree>
    <p:extLst>
      <p:ext uri="{BB962C8B-B14F-4D97-AF65-F5344CB8AC3E}">
        <p14:creationId xmlns:p14="http://schemas.microsoft.com/office/powerpoint/2010/main" val="1899646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5B77EA-D540-06A5-5456-574EC85CAD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67257" y="12712701"/>
            <a:ext cx="5486399" cy="7302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cs-CZ" dirty="0"/>
              <a:t>PFACD </a:t>
            </a:r>
          </a:p>
          <a:p>
            <a:r>
              <a:rPr lang="en-US" dirty="0"/>
              <a:t>2025/2026</a:t>
            </a:r>
          </a:p>
        </p:txBody>
      </p:sp>
    </p:spTree>
    <p:extLst>
      <p:ext uri="{BB962C8B-B14F-4D97-AF65-F5344CB8AC3E}">
        <p14:creationId xmlns:p14="http://schemas.microsoft.com/office/powerpoint/2010/main" val="1569311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5D96B-BF7C-74C7-C77A-572D5AFCD6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67257" y="12712701"/>
            <a:ext cx="5486399" cy="7302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cs-CZ" dirty="0"/>
              <a:t>PFACD </a:t>
            </a:r>
          </a:p>
          <a:p>
            <a:r>
              <a:rPr lang="en-US" dirty="0"/>
              <a:t>2025/2026</a:t>
            </a:r>
          </a:p>
        </p:txBody>
      </p:sp>
    </p:spTree>
    <p:extLst>
      <p:ext uri="{BB962C8B-B14F-4D97-AF65-F5344CB8AC3E}">
        <p14:creationId xmlns:p14="http://schemas.microsoft.com/office/powerpoint/2010/main" val="867534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hyperlink" Target="https://creativecommons.org/licenses/by-nc-sa/4.0/?ref=chooser-v1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02837" y="108563"/>
            <a:ext cx="21999319" cy="17449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7257" y="2322202"/>
            <a:ext cx="21808385" cy="98701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67257" y="12712701"/>
            <a:ext cx="5486399" cy="7302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cs-CZ" dirty="0"/>
              <a:t>PFACD</a:t>
            </a:r>
          </a:p>
          <a:p>
            <a:r>
              <a:rPr lang="en-US" dirty="0"/>
              <a:t>2025/2026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780177" y="12691754"/>
            <a:ext cx="5486399" cy="7302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  <p:sp>
        <p:nvSpPr>
          <p:cNvPr id="8" name="AutoShape 17">
            <a:hlinkClick r:id="rId13"/>
            <a:extLst>
              <a:ext uri="{FF2B5EF4-FFF2-40B4-BE49-F238E27FC236}">
                <a16:creationId xmlns:a16="http://schemas.microsoft.com/office/drawing/2014/main" id="{D587C2CF-B78C-DBD2-D5AC-2A79AB67C5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750343" y="13056880"/>
            <a:ext cx="116592" cy="29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17286" tIns="58643" rIns="117286" bIns="58643" numCol="1" anchor="t" anchorCtr="0" compatLnSpc="1">
            <a:prstTxWarp prst="textNoShape">
              <a:avLst/>
            </a:prstTxWarp>
          </a:bodyPr>
          <a:lstStyle/>
          <a:p>
            <a:endParaRPr lang="en-PT" sz="3848"/>
          </a:p>
        </p:txBody>
      </p:sp>
      <p:sp>
        <p:nvSpPr>
          <p:cNvPr id="9" name="AutoShape 18">
            <a:extLst>
              <a:ext uri="{FF2B5EF4-FFF2-40B4-BE49-F238E27FC236}">
                <a16:creationId xmlns:a16="http://schemas.microsoft.com/office/drawing/2014/main" id="{7A22E169-C289-7D3C-E86D-C11A7AB334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279766" y="13056880"/>
            <a:ext cx="116592" cy="29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17286" tIns="58643" rIns="117286" bIns="58643" numCol="1" anchor="t" anchorCtr="0" compatLnSpc="1">
            <a:prstTxWarp prst="textNoShape">
              <a:avLst/>
            </a:prstTxWarp>
          </a:bodyPr>
          <a:lstStyle/>
          <a:p>
            <a:endParaRPr lang="en-PT" sz="3848"/>
          </a:p>
        </p:txBody>
      </p:sp>
      <p:sp>
        <p:nvSpPr>
          <p:cNvPr id="10" name="AutoShape 19">
            <a:extLst>
              <a:ext uri="{FF2B5EF4-FFF2-40B4-BE49-F238E27FC236}">
                <a16:creationId xmlns:a16="http://schemas.microsoft.com/office/drawing/2014/main" id="{86E99E31-68E1-F754-99A6-241910734B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809189" y="13056880"/>
            <a:ext cx="116592" cy="29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17286" tIns="58643" rIns="117286" bIns="58643" numCol="1" anchor="t" anchorCtr="0" compatLnSpc="1">
            <a:prstTxWarp prst="textNoShape">
              <a:avLst/>
            </a:prstTxWarp>
          </a:bodyPr>
          <a:lstStyle/>
          <a:p>
            <a:endParaRPr lang="en-PT" sz="3848"/>
          </a:p>
        </p:txBody>
      </p:sp>
      <p:sp>
        <p:nvSpPr>
          <p:cNvPr id="11" name="AutoShape 20">
            <a:extLst>
              <a:ext uri="{FF2B5EF4-FFF2-40B4-BE49-F238E27FC236}">
                <a16:creationId xmlns:a16="http://schemas.microsoft.com/office/drawing/2014/main" id="{75904290-0806-481F-022B-875C088FF3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338612" y="13056880"/>
            <a:ext cx="116592" cy="29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17286" tIns="58643" rIns="117286" bIns="58643" numCol="1" anchor="t" anchorCtr="0" compatLnSpc="1">
            <a:prstTxWarp prst="textNoShape">
              <a:avLst/>
            </a:prstTxWarp>
          </a:bodyPr>
          <a:lstStyle/>
          <a:p>
            <a:endParaRPr lang="en-PT" sz="3848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DCF3F-0799-10BA-9464-EA58FDD72F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201" y="12712701"/>
            <a:ext cx="8229600" cy="7302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A4C7C0-777C-258F-A57E-D1EF0AE6B060}"/>
              </a:ext>
            </a:extLst>
          </p:cNvPr>
          <p:cNvSpPr/>
          <p:nvPr userDrawn="1"/>
        </p:nvSpPr>
        <p:spPr>
          <a:xfrm>
            <a:off x="14140832" y="12516193"/>
            <a:ext cx="9000000" cy="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sz="3848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05709B-5FBF-CFCD-364F-D8A41EBAF190}"/>
              </a:ext>
            </a:extLst>
          </p:cNvPr>
          <p:cNvSpPr/>
          <p:nvPr userDrawn="1"/>
        </p:nvSpPr>
        <p:spPr>
          <a:xfrm>
            <a:off x="1243170" y="12530415"/>
            <a:ext cx="9000000" cy="72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sz="3848"/>
          </a:p>
        </p:txBody>
      </p:sp>
      <p:pic>
        <p:nvPicPr>
          <p:cNvPr id="7" name="logo_iscte_pos.png" descr="logo_iscte_pos.png">
            <a:extLst>
              <a:ext uri="{FF2B5EF4-FFF2-40B4-BE49-F238E27FC236}">
                <a16:creationId xmlns:a16="http://schemas.microsoft.com/office/drawing/2014/main" id="{38FB67EB-FAD0-80DA-F039-91D615B83879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14343" t="29613" r="13592" b="34935"/>
          <a:stretch>
            <a:fillRect/>
          </a:stretch>
        </p:blipFill>
        <p:spPr>
          <a:xfrm rot="16200000">
            <a:off x="147033" y="6593474"/>
            <a:ext cx="1025748" cy="30184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3524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xStyles>
    <p:titleStyle>
      <a:lvl1pPr algn="l" defTabSz="1828786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chemeClr val="tx1">
              <a:lumMod val="85000"/>
              <a:lumOff val="15000"/>
            </a:schemeClr>
          </a:solidFill>
          <a:latin typeface="Montserrat" pitchFamily="2" charset="77"/>
          <a:ea typeface="+mj-ea"/>
          <a:cs typeface="+mj-cs"/>
        </a:defRPr>
      </a:lvl1pPr>
    </p:titleStyle>
    <p:bodyStyle>
      <a:lvl1pPr marL="457197" indent="-457197" algn="l" defTabSz="1828786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3200" kern="1200">
          <a:solidFill>
            <a:schemeClr val="tx1">
              <a:lumMod val="85000"/>
              <a:lumOff val="15000"/>
            </a:schemeClr>
          </a:solidFill>
          <a:latin typeface="Montserrat" pitchFamily="2" charset="77"/>
          <a:ea typeface="+mn-ea"/>
          <a:cs typeface="+mn-cs"/>
        </a:defRPr>
      </a:lvl1pPr>
      <a:lvl2pPr marL="1371590" indent="-457197" algn="l" defTabSz="1828786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3200" kern="1200">
          <a:solidFill>
            <a:schemeClr val="tx1">
              <a:lumMod val="85000"/>
              <a:lumOff val="15000"/>
            </a:schemeClr>
          </a:solidFill>
          <a:latin typeface="Montserrat" pitchFamily="2" charset="77"/>
          <a:ea typeface="+mn-ea"/>
          <a:cs typeface="+mn-cs"/>
        </a:defRPr>
      </a:lvl2pPr>
      <a:lvl3pPr marL="2285984" indent="-457197" algn="l" defTabSz="1828786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3200" kern="1200">
          <a:solidFill>
            <a:schemeClr val="tx1">
              <a:lumMod val="85000"/>
              <a:lumOff val="15000"/>
            </a:schemeClr>
          </a:solidFill>
          <a:latin typeface="Montserrat" pitchFamily="2" charset="77"/>
          <a:ea typeface="+mn-ea"/>
          <a:cs typeface="+mn-cs"/>
        </a:defRPr>
      </a:lvl3pPr>
      <a:lvl4pPr marL="3200378" indent="-457197" algn="l" defTabSz="1828786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3200" kern="1200">
          <a:solidFill>
            <a:schemeClr val="tx1">
              <a:lumMod val="85000"/>
              <a:lumOff val="15000"/>
            </a:schemeClr>
          </a:solidFill>
          <a:latin typeface="Montserrat" pitchFamily="2" charset="77"/>
          <a:ea typeface="+mn-ea"/>
          <a:cs typeface="+mn-cs"/>
        </a:defRPr>
      </a:lvl4pPr>
      <a:lvl5pPr marL="4114771" indent="-457197" algn="l" defTabSz="1828786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3200" kern="1200">
          <a:solidFill>
            <a:schemeClr val="tx1">
              <a:lumMod val="85000"/>
              <a:lumOff val="15000"/>
            </a:schemeClr>
          </a:solidFill>
          <a:latin typeface="Montserrat" pitchFamily="2" charset="77"/>
          <a:ea typeface="+mn-ea"/>
          <a:cs typeface="+mn-cs"/>
        </a:defRPr>
      </a:lvl5pPr>
      <a:lvl6pPr marL="5029164" indent="-457197" algn="l" defTabSz="1828786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6pPr>
      <a:lvl7pPr marL="5943558" indent="-457197" algn="l" defTabSz="1828786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7pPr>
      <a:lvl8pPr marL="6857952" indent="-457197" algn="l" defTabSz="1828786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8pPr>
      <a:lvl9pPr marL="7772345" indent="-457197" algn="l" defTabSz="1828786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86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1pPr>
      <a:lvl2pPr marL="914393" algn="l" defTabSz="1828786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2pPr>
      <a:lvl3pPr marL="1828786" algn="l" defTabSz="1828786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3pPr>
      <a:lvl4pPr marL="2743181" algn="l" defTabSz="1828786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4pPr>
      <a:lvl5pPr marL="3657574" algn="l" defTabSz="1828786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5pPr>
      <a:lvl6pPr marL="4571967" algn="l" defTabSz="1828786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6pPr>
      <a:lvl7pPr marL="5486361" algn="l" defTabSz="1828786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7pPr>
      <a:lvl8pPr marL="6400755" algn="l" defTabSz="1828786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8pPr>
      <a:lvl9pPr marL="7315148" algn="l" defTabSz="1828786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D805-B745-983F-4473-FB0C275226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3319" y="4343823"/>
            <a:ext cx="10771843" cy="1304991"/>
          </a:xfrm>
          <a:noFill/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GB" sz="4800" dirty="0" err="1">
                <a:solidFill>
                  <a:schemeClr val="accent6">
                    <a:lumMod val="50000"/>
                  </a:schemeClr>
                </a:solidFill>
              </a:rPr>
              <a:t>Projeto</a:t>
            </a:r>
            <a:r>
              <a:rPr lang="en-GB" sz="4800" dirty="0">
                <a:solidFill>
                  <a:schemeClr val="accent6">
                    <a:lumMod val="50000"/>
                  </a:schemeClr>
                </a:solidFill>
              </a:rPr>
              <a:t> Final </a:t>
            </a:r>
            <a:r>
              <a:rPr lang="en-GB" sz="4800" dirty="0" err="1">
                <a:solidFill>
                  <a:schemeClr val="accent6">
                    <a:lumMod val="50000"/>
                  </a:schemeClr>
                </a:solidFill>
              </a:rPr>
              <a:t>Aplicado</a:t>
            </a:r>
            <a:r>
              <a:rPr lang="en-GB" sz="48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GB" sz="4800" dirty="0" err="1">
                <a:solidFill>
                  <a:schemeClr val="accent6">
                    <a:lumMod val="50000"/>
                  </a:schemeClr>
                </a:solidFill>
              </a:rPr>
              <a:t>em</a:t>
            </a:r>
            <a:r>
              <a:rPr lang="en-GB" sz="48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GB" sz="4800" dirty="0" err="1">
                <a:solidFill>
                  <a:schemeClr val="accent6">
                    <a:lumMod val="50000"/>
                  </a:schemeClr>
                </a:solidFill>
              </a:rPr>
              <a:t>Ciência</a:t>
            </a:r>
            <a:r>
              <a:rPr lang="en-GB" sz="4800" dirty="0">
                <a:solidFill>
                  <a:schemeClr val="accent6">
                    <a:lumMod val="50000"/>
                  </a:schemeClr>
                </a:solidFill>
              </a:rPr>
              <a:t> de Dados</a:t>
            </a:r>
            <a:endParaRPr lang="en-PT" sz="4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CAFED0-BBCA-22B5-A18A-D4F430DD6F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2121" y="13063504"/>
            <a:ext cx="18287830" cy="130499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539"/>
              </a:spcBef>
              <a:spcAft>
                <a:spcPts val="770"/>
              </a:spcAft>
            </a:pPr>
            <a:r>
              <a:rPr lang="en-GB" sz="2400" b="1" dirty="0" err="1">
                <a:solidFill>
                  <a:schemeClr val="accent6">
                    <a:lumMod val="50000"/>
                  </a:schemeClr>
                </a:solidFill>
              </a:rPr>
              <a:t>Licenciatura</a:t>
            </a:r>
            <a:r>
              <a:rPr lang="en-GB" sz="24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GB" sz="2400" b="1" dirty="0" err="1">
                <a:solidFill>
                  <a:schemeClr val="accent6">
                    <a:lumMod val="50000"/>
                  </a:schemeClr>
                </a:solidFill>
              </a:rPr>
              <a:t>em</a:t>
            </a:r>
            <a:r>
              <a:rPr lang="en-GB" sz="24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GB" sz="2400" b="1" dirty="0" err="1">
                <a:solidFill>
                  <a:schemeClr val="accent6">
                    <a:lumMod val="50000"/>
                  </a:schemeClr>
                </a:solidFill>
              </a:rPr>
              <a:t>Ciência</a:t>
            </a:r>
            <a:r>
              <a:rPr lang="en-GB" sz="2400" b="1" dirty="0">
                <a:solidFill>
                  <a:schemeClr val="accent6">
                    <a:lumMod val="50000"/>
                  </a:schemeClr>
                </a:solidFill>
              </a:rPr>
              <a:t> de Dados 2025/2026</a:t>
            </a:r>
          </a:p>
          <a:p>
            <a:pPr algn="ctr">
              <a:lnSpc>
                <a:spcPct val="100000"/>
              </a:lnSpc>
            </a:pPr>
            <a:endParaRPr lang="en-PT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90B833-8847-1B14-6F38-E4CFE39DAD80}"/>
              </a:ext>
            </a:extLst>
          </p:cNvPr>
          <p:cNvSpPr txBox="1"/>
          <p:nvPr/>
        </p:nvSpPr>
        <p:spPr>
          <a:xfrm>
            <a:off x="14281532" y="6484957"/>
            <a:ext cx="45047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4000" dirty="0">
                <a:solidFill>
                  <a:schemeClr val="accent6">
                    <a:lumMod val="50000"/>
                  </a:schemeClr>
                </a:solidFill>
              </a:rPr>
              <a:t>Apresentação nº1</a:t>
            </a:r>
            <a:endParaRPr lang="en-PT" sz="4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6636D6-958C-3C99-4E1D-FFFE5D204DD7}"/>
              </a:ext>
            </a:extLst>
          </p:cNvPr>
          <p:cNvSpPr txBox="1"/>
          <p:nvPr/>
        </p:nvSpPr>
        <p:spPr>
          <a:xfrm>
            <a:off x="12703629" y="8067187"/>
            <a:ext cx="8817428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PT" sz="3200" dirty="0">
                <a:solidFill>
                  <a:schemeClr val="accent6">
                    <a:lumMod val="50000"/>
                  </a:schemeClr>
                </a:solidFill>
              </a:rPr>
              <a:t>GRUPO 22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pt-PT" sz="3200" dirty="0">
                <a:solidFill>
                  <a:srgbClr val="218EB8"/>
                </a:solidFill>
              </a:rPr>
              <a:t>123385 Tiago Woodger – Responsável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pt-PT" sz="3200" dirty="0">
                <a:solidFill>
                  <a:schemeClr val="accent6">
                    <a:lumMod val="50000"/>
                  </a:schemeClr>
                </a:solidFill>
              </a:rPr>
              <a:t>123418 Francisco Rosa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pt-PT" sz="3200" dirty="0">
                <a:solidFill>
                  <a:schemeClr val="accent6">
                    <a:lumMod val="50000"/>
                  </a:schemeClr>
                </a:solidFill>
              </a:rPr>
              <a:t>123436 Marcos Mestre</a:t>
            </a:r>
          </a:p>
        </p:txBody>
      </p:sp>
      <p:pic>
        <p:nvPicPr>
          <p:cNvPr id="6" name="Picture 5" descr="Solar-Action: Affordable Solar Panels for Homes Las Vegas">
            <a:extLst>
              <a:ext uri="{FF2B5EF4-FFF2-40B4-BE49-F238E27FC236}">
                <a16:creationId xmlns:a16="http://schemas.microsoft.com/office/drawing/2014/main" id="{6D15DCE3-DF9A-ECC9-3AEE-BA41E5343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290" y="3857311"/>
            <a:ext cx="9874419" cy="6695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755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FF4EB-00C4-EEBF-10DB-470B7D5E4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97" y="453146"/>
            <a:ext cx="21031005" cy="5705475"/>
          </a:xfrm>
        </p:spPr>
        <p:txBody>
          <a:bodyPr/>
          <a:lstStyle/>
          <a:p>
            <a:pPr algn="l"/>
            <a:r>
              <a:rPr lang="en-PT" dirty="0">
                <a:solidFill>
                  <a:schemeClr val="accent6">
                    <a:lumMod val="50000"/>
                  </a:schemeClr>
                </a:solidFill>
                <a:latin typeface="Montserrat" pitchFamily="2" charset="77"/>
              </a:rPr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9C74C3-AA04-F474-6E7E-C7D8CDE16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97" y="6858000"/>
            <a:ext cx="21031005" cy="4564283"/>
          </a:xfrm>
        </p:spPr>
        <p:txBody>
          <a:bodyPr/>
          <a:lstStyle/>
          <a:p>
            <a:pPr marL="439838" indent="-439838" algn="l">
              <a:buFont typeface="Arial" panose="020B0604020202020204" pitchFamily="34" charset="0"/>
              <a:buChar char="•"/>
            </a:pPr>
            <a:r>
              <a:rPr lang="en-PT" sz="3592" dirty="0">
                <a:solidFill>
                  <a:schemeClr val="accent6">
                    <a:lumMod val="50000"/>
                  </a:schemeClr>
                </a:solidFill>
              </a:rPr>
              <a:t>Objetivos para esta semana</a:t>
            </a:r>
          </a:p>
          <a:p>
            <a:pPr marL="439838" indent="-439838" algn="l">
              <a:buFont typeface="Arial" panose="020B0604020202020204" pitchFamily="34" charset="0"/>
              <a:buChar char="•"/>
            </a:pPr>
            <a:r>
              <a:rPr lang="en-PT" sz="3592" dirty="0">
                <a:solidFill>
                  <a:schemeClr val="accent6">
                    <a:lumMod val="50000"/>
                  </a:schemeClr>
                </a:solidFill>
              </a:rPr>
              <a:t>Tarefas a realizar para esta apresentação</a:t>
            </a:r>
          </a:p>
          <a:p>
            <a:pPr marL="1371593" lvl="1" indent="-457200">
              <a:buSzPct val="60000"/>
              <a:buFont typeface="Courier New" panose="02070309020205020404" pitchFamily="49" charset="0"/>
              <a:buChar char="o"/>
            </a:pPr>
            <a:r>
              <a:rPr lang="en-PT" sz="2791" dirty="0">
                <a:solidFill>
                  <a:schemeClr val="accent6">
                    <a:lumMod val="50000"/>
                  </a:schemeClr>
                </a:solidFill>
              </a:rPr>
              <a:t>Estado </a:t>
            </a:r>
          </a:p>
          <a:p>
            <a:pPr marL="1371593" lvl="1" indent="-457200">
              <a:buSzPct val="60000"/>
              <a:buFont typeface="Courier New" panose="02070309020205020404" pitchFamily="49" charset="0"/>
              <a:buChar char="o"/>
            </a:pPr>
            <a:r>
              <a:rPr lang="en-PT" sz="2791" dirty="0">
                <a:solidFill>
                  <a:schemeClr val="accent6">
                    <a:lumMod val="50000"/>
                  </a:schemeClr>
                </a:solidFill>
              </a:rPr>
              <a:t>Resultados relevantes</a:t>
            </a:r>
          </a:p>
          <a:p>
            <a:pPr marL="1371593" lvl="1" indent="-457200">
              <a:buSzPct val="60000"/>
              <a:buFont typeface="Courier New" panose="02070309020205020404" pitchFamily="49" charset="0"/>
              <a:buChar char="o"/>
            </a:pPr>
            <a:r>
              <a:rPr lang="en-PT" sz="2791" dirty="0">
                <a:solidFill>
                  <a:schemeClr val="accent6">
                    <a:lumMod val="50000"/>
                  </a:schemeClr>
                </a:solidFill>
              </a:rPr>
              <a:t>Problemas levantados</a:t>
            </a:r>
          </a:p>
          <a:p>
            <a:pPr marL="439838" indent="-439838" algn="l">
              <a:buFont typeface="Arial" panose="020B0604020202020204" pitchFamily="34" charset="0"/>
              <a:buChar char="•"/>
            </a:pPr>
            <a:r>
              <a:rPr lang="en-PT" sz="3592" dirty="0">
                <a:solidFill>
                  <a:schemeClr val="accent6">
                    <a:lumMod val="50000"/>
                  </a:schemeClr>
                </a:solidFill>
              </a:rPr>
              <a:t>Objetivos a atingir na próxima semana</a:t>
            </a:r>
          </a:p>
          <a:p>
            <a:pPr marL="439838" indent="-439838" algn="l">
              <a:buFont typeface="Arial" panose="020B0604020202020204" pitchFamily="34" charset="0"/>
              <a:buChar char="•"/>
            </a:pPr>
            <a:r>
              <a:rPr lang="en-PT" sz="3592" dirty="0">
                <a:solidFill>
                  <a:schemeClr val="accent6">
                    <a:lumMod val="50000"/>
                  </a:schemeClr>
                </a:solidFill>
              </a:rPr>
              <a:t>Tarefas propostas para a próxima etapa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C94FD4-2115-86C3-3349-A8693231A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2</a:t>
            </a:fld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7E408-8BAC-872F-E4F8-93A76B853B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67257" y="12712701"/>
            <a:ext cx="5486399" cy="7302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cs-CZ" dirty="0"/>
              <a:t>PFACD </a:t>
            </a:r>
          </a:p>
          <a:p>
            <a:r>
              <a:rPr lang="en-US" dirty="0"/>
              <a:t>2025/2026</a:t>
            </a:r>
          </a:p>
        </p:txBody>
      </p:sp>
    </p:spTree>
    <p:extLst>
      <p:ext uri="{BB962C8B-B14F-4D97-AF65-F5344CB8AC3E}">
        <p14:creationId xmlns:p14="http://schemas.microsoft.com/office/powerpoint/2010/main" val="3480123293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EE4DC-C71D-DF4F-CEB0-7E69C17EE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8FC993-2EF8-CBD3-0D96-63AD3B632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27D03-F97E-9F4B-AC1C-D15C8F2E7A31}" type="slidenum">
              <a:rPr lang="en-US" smtClean="0"/>
              <a:t>3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5D46127-3388-8341-90FB-90BF316DE004}"/>
              </a:ext>
            </a:extLst>
          </p:cNvPr>
          <p:cNvSpPr txBox="1">
            <a:spLocks/>
          </p:cNvSpPr>
          <p:nvPr/>
        </p:nvSpPr>
        <p:spPr>
          <a:xfrm>
            <a:off x="1513579" y="2248580"/>
            <a:ext cx="15344206" cy="9671954"/>
          </a:xfrm>
          <a:prstGeom prst="rect">
            <a:avLst/>
          </a:prstGeom>
          <a:noFill/>
        </p:spPr>
        <p:txBody>
          <a:bodyPr vert="horz" lIns="182878" tIns="91440" rIns="182878" bIns="9144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Gill Sans MT" panose="020B050202010402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accent1">
                    <a:lumMod val="50000"/>
                  </a:schemeClr>
                </a:solidFill>
                <a:latin typeface="Gill Sans MT" panose="020B0502020104020203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>
                    <a:lumMod val="50000"/>
                  </a:schemeClr>
                </a:solidFill>
                <a:latin typeface="Gill Sans MT" panose="020B0502020104020203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>
                    <a:lumMod val="50000"/>
                  </a:schemeClr>
                </a:solidFill>
                <a:latin typeface="Gill Sans MT" panose="020B0502020104020203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>
                    <a:lumMod val="50000"/>
                  </a:schemeClr>
                </a:solidFill>
                <a:latin typeface="Gill Sans MT" panose="020B050202010402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50000"/>
              </a:lnSpc>
              <a:spcBef>
                <a:spcPts val="513"/>
              </a:spcBef>
              <a:spcAft>
                <a:spcPts val="2309"/>
              </a:spcAft>
              <a:buClr>
                <a:srgbClr val="9D90A0">
                  <a:lumMod val="50000"/>
                </a:srgbClr>
              </a:buClr>
              <a:buFont typeface="Aptos Display" panose="02110004020202020204"/>
              <a:buAutoNum type="arabicPeriod"/>
            </a:pPr>
            <a:r>
              <a:rPr lang="pt-PT" sz="305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</a:rPr>
              <a:t>Início do Business Understading: leitura da tese e primeiras impressões sobre o tema</a:t>
            </a:r>
          </a:p>
          <a:p>
            <a:pPr marL="514350" indent="-514350">
              <a:lnSpc>
                <a:spcPct val="150000"/>
              </a:lnSpc>
              <a:spcBef>
                <a:spcPts val="513"/>
              </a:spcBef>
              <a:spcAft>
                <a:spcPts val="2309"/>
              </a:spcAft>
              <a:buClr>
                <a:schemeClr val="accent6">
                  <a:lumMod val="50000"/>
                </a:schemeClr>
              </a:buClr>
              <a:buAutoNum type="arabicPeriod"/>
            </a:pPr>
            <a:r>
              <a:rPr lang="pt-PT" sz="305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</a:rPr>
              <a:t> </a:t>
            </a:r>
            <a:r>
              <a:rPr lang="pt-PT" sz="31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</a:rPr>
              <a:t>Pesquisa de Bases de Dados e artigos de base/motivação para o Projeto</a:t>
            </a:r>
            <a:endParaRPr lang="pt-PT" sz="3050" b="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77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82D133C-23CF-71DC-0A8D-1C331DC5FD07}"/>
              </a:ext>
            </a:extLst>
          </p:cNvPr>
          <p:cNvSpPr txBox="1">
            <a:spLocks/>
          </p:cNvSpPr>
          <p:nvPr/>
        </p:nvSpPr>
        <p:spPr>
          <a:xfrm>
            <a:off x="1008134" y="252889"/>
            <a:ext cx="21999115" cy="2078878"/>
          </a:xfrm>
          <a:prstGeom prst="rect">
            <a:avLst/>
          </a:prstGeom>
        </p:spPr>
        <p:txBody>
          <a:bodyPr vert="horz" lIns="117286" tIns="58643" rIns="117286" bIns="58643" rtlCol="0" anchor="ctr">
            <a:normAutofit/>
          </a:bodyPr>
          <a:lstStyle>
            <a:lvl1pPr algn="r" defTabSz="14257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644" dirty="0" err="1">
                <a:solidFill>
                  <a:schemeClr val="accent6">
                    <a:lumMod val="50000"/>
                  </a:schemeClr>
                </a:solidFill>
                <a:latin typeface="Montserrat" pitchFamily="2" charset="77"/>
              </a:rPr>
              <a:t>Objetivos</a:t>
            </a:r>
            <a:r>
              <a:rPr lang="en-US" sz="5644" dirty="0">
                <a:solidFill>
                  <a:schemeClr val="accent6">
                    <a:lumMod val="50000"/>
                  </a:schemeClr>
                </a:solidFill>
                <a:latin typeface="Montserrat" pitchFamily="2" charset="77"/>
              </a:rPr>
              <a:t> para </a:t>
            </a:r>
            <a:r>
              <a:rPr lang="en-US" sz="5644" dirty="0" err="1">
                <a:solidFill>
                  <a:schemeClr val="accent6">
                    <a:lumMod val="50000"/>
                  </a:schemeClr>
                </a:solidFill>
                <a:latin typeface="Montserrat" pitchFamily="2" charset="77"/>
              </a:rPr>
              <a:t>esta</a:t>
            </a:r>
            <a:r>
              <a:rPr lang="en-US" sz="5644" dirty="0">
                <a:solidFill>
                  <a:schemeClr val="accent6">
                    <a:lumMod val="50000"/>
                  </a:schemeClr>
                </a:solidFill>
                <a:latin typeface="Montserrat" pitchFamily="2" charset="77"/>
              </a:rPr>
              <a:t> </a:t>
            </a:r>
            <a:r>
              <a:rPr lang="en-US" sz="5644" dirty="0" err="1">
                <a:solidFill>
                  <a:schemeClr val="accent6">
                    <a:lumMod val="50000"/>
                  </a:schemeClr>
                </a:solidFill>
                <a:latin typeface="Montserrat" pitchFamily="2" charset="77"/>
              </a:rPr>
              <a:t>semana</a:t>
            </a:r>
            <a:endParaRPr lang="en-PT" sz="5644" dirty="0">
              <a:solidFill>
                <a:schemeClr val="accent6">
                  <a:lumMod val="50000"/>
                </a:schemeClr>
              </a:solidFill>
              <a:latin typeface="Montserrat" pitchFamily="2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C4EF1A-40F6-A6FB-C647-F15EACBF3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424" y="12691754"/>
            <a:ext cx="5588000" cy="1016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1FDE732-A98C-6E8A-7F87-B0716BBE090F}"/>
              </a:ext>
            </a:extLst>
          </p:cNvPr>
          <p:cNvGrpSpPr/>
          <p:nvPr/>
        </p:nvGrpSpPr>
        <p:grpSpPr>
          <a:xfrm>
            <a:off x="17548085" y="2998019"/>
            <a:ext cx="5718491" cy="7719962"/>
            <a:chOff x="17548085" y="2998019"/>
            <a:chExt cx="5718491" cy="7719962"/>
          </a:xfrm>
        </p:grpSpPr>
        <p:pic>
          <p:nvPicPr>
            <p:cNvPr id="9" name="Picture 8" descr="Alarm Ringing outline">
              <a:extLst>
                <a:ext uri="{FF2B5EF4-FFF2-40B4-BE49-F238E27FC236}">
                  <a16:creationId xmlns:a16="http://schemas.microsoft.com/office/drawing/2014/main" id="{6EBA086F-113D-C88A-5113-CF2F63CAB5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12963" r="12963"/>
            <a:stretch/>
          </p:blipFill>
          <p:spPr bwMode="auto">
            <a:xfrm>
              <a:off x="17548085" y="2998019"/>
              <a:ext cx="5718491" cy="77199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0C47BD2-6132-AD81-C780-509FAE74ADBB}"/>
                </a:ext>
              </a:extLst>
            </p:cNvPr>
            <p:cNvSpPr txBox="1"/>
            <p:nvPr/>
          </p:nvSpPr>
          <p:spPr>
            <a:xfrm>
              <a:off x="17952499" y="9308123"/>
              <a:ext cx="4706738" cy="101566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PT" b="0" i="1" dirty="0"/>
                <a:t>Se quiserem usar imagens</a:t>
              </a:r>
            </a:p>
            <a:p>
              <a:r>
                <a:rPr lang="en-PT" b="0" i="1" dirty="0"/>
                <a:t>inserir aqui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9011380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9D986-402F-D0EA-0BB1-462D7298E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576" y="105497"/>
            <a:ext cx="21999115" cy="2078878"/>
          </a:xfrm>
        </p:spPr>
        <p:txBody>
          <a:bodyPr>
            <a:normAutofit/>
          </a:bodyPr>
          <a:lstStyle/>
          <a:p>
            <a:r>
              <a:rPr lang="en-PT" sz="6000" dirty="0">
                <a:solidFill>
                  <a:schemeClr val="accent6">
                    <a:lumMod val="50000"/>
                  </a:schemeClr>
                </a:solidFill>
              </a:rPr>
              <a:t>Tarefas a realizar</a:t>
            </a:r>
            <a:endParaRPr lang="en-PT" sz="6000" dirty="0">
              <a:solidFill>
                <a:schemeClr val="accent6">
                  <a:lumMod val="50000"/>
                </a:schemeClr>
              </a:solidFill>
              <a:latin typeface="Montserrat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3A6587-8864-53C1-F2FA-285585D6A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27D03-F97E-9F4B-AC1C-D15C8F2E7A31}" type="slidenum">
              <a:rPr lang="en-US" smtClean="0"/>
              <a:t>4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8617E28-D80C-6CF9-1731-2539FA93F112}"/>
              </a:ext>
            </a:extLst>
          </p:cNvPr>
          <p:cNvSpPr txBox="1">
            <a:spLocks/>
          </p:cNvSpPr>
          <p:nvPr/>
        </p:nvSpPr>
        <p:spPr>
          <a:xfrm>
            <a:off x="1380121" y="2184375"/>
            <a:ext cx="15732948" cy="9705181"/>
          </a:xfrm>
          <a:prstGeom prst="rect">
            <a:avLst/>
          </a:prstGeom>
          <a:noFill/>
        </p:spPr>
        <p:txBody>
          <a:bodyPr vert="horz" lIns="182878" tIns="91440" rIns="182878" bIns="9144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Gill Sans MT" panose="020B050202010402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accent1">
                    <a:lumMod val="50000"/>
                  </a:schemeClr>
                </a:solidFill>
                <a:latin typeface="Gill Sans MT" panose="020B0502020104020203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>
                    <a:lumMod val="50000"/>
                  </a:schemeClr>
                </a:solidFill>
                <a:latin typeface="Gill Sans MT" panose="020B0502020104020203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>
                    <a:lumMod val="50000"/>
                  </a:schemeClr>
                </a:solidFill>
                <a:latin typeface="Gill Sans MT" panose="020B0502020104020203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>
                    <a:lumMod val="50000"/>
                  </a:schemeClr>
                </a:solidFill>
                <a:latin typeface="Gill Sans MT" panose="020B050202010402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1113"/>
              </a:spcBef>
              <a:spcAft>
                <a:spcPts val="3078"/>
              </a:spcAft>
              <a:buClr>
                <a:schemeClr val="accent6">
                  <a:lumMod val="50000"/>
                </a:schemeClr>
              </a:buClr>
              <a:buNone/>
            </a:pPr>
            <a:r>
              <a:rPr lang="pt-PT" sz="305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</a:rPr>
              <a:t>Tarefa 1: Leitura da Tese</a:t>
            </a:r>
          </a:p>
          <a:p>
            <a:pPr lvl="1">
              <a:lnSpc>
                <a:spcPct val="150000"/>
              </a:lnSpc>
              <a:spcBef>
                <a:spcPts val="1113"/>
              </a:spcBef>
              <a:spcAft>
                <a:spcPts val="3078"/>
              </a:spcAft>
              <a:buClr>
                <a:schemeClr val="accent6">
                  <a:lumMod val="50000"/>
                </a:schemeClr>
              </a:buClr>
            </a:pPr>
            <a:r>
              <a:rPr lang="pt-PT" sz="285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</a:rPr>
              <a:t>Descrição:  leitura da tese; replicação da QUERY na plataforma Scopus; interpretação dos resultados.</a:t>
            </a:r>
          </a:p>
          <a:p>
            <a:pPr lvl="1">
              <a:lnSpc>
                <a:spcPct val="150000"/>
              </a:lnSpc>
              <a:spcBef>
                <a:spcPts val="1113"/>
              </a:spcBef>
              <a:spcAft>
                <a:spcPts val="3078"/>
              </a:spcAft>
              <a:buClr>
                <a:schemeClr val="accent6">
                  <a:lumMod val="50000"/>
                </a:schemeClr>
              </a:buClr>
            </a:pPr>
            <a:endParaRPr lang="pt-PT" sz="2878" b="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77"/>
            </a:endParaRPr>
          </a:p>
          <a:p>
            <a:pPr lvl="1">
              <a:lnSpc>
                <a:spcPct val="150000"/>
              </a:lnSpc>
              <a:spcBef>
                <a:spcPts val="1113"/>
              </a:spcBef>
              <a:spcAft>
                <a:spcPts val="3078"/>
              </a:spcAft>
              <a:buClr>
                <a:schemeClr val="accent6">
                  <a:lumMod val="50000"/>
                </a:schemeClr>
              </a:buClr>
            </a:pPr>
            <a:r>
              <a:rPr lang="pt-PT" sz="2878" b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</a:rPr>
              <a:t>Dificuldades: utilização da plataforma Scopus</a:t>
            </a:r>
          </a:p>
          <a:p>
            <a:pPr lvl="1">
              <a:lnSpc>
                <a:spcPct val="150000"/>
              </a:lnSpc>
              <a:spcBef>
                <a:spcPts val="1113"/>
              </a:spcBef>
              <a:spcAft>
                <a:spcPts val="3078"/>
              </a:spcAft>
              <a:buClr>
                <a:schemeClr val="accent6">
                  <a:lumMod val="50000"/>
                </a:schemeClr>
              </a:buClr>
            </a:pPr>
            <a:endParaRPr lang="pt-PT" sz="2878" b="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77"/>
            </a:endParaRPr>
          </a:p>
          <a:p>
            <a:pPr lvl="1">
              <a:lnSpc>
                <a:spcPct val="150000"/>
              </a:lnSpc>
              <a:spcBef>
                <a:spcPts val="1113"/>
              </a:spcBef>
              <a:spcAft>
                <a:spcPts val="3078"/>
              </a:spcAft>
              <a:buClr>
                <a:schemeClr val="accent6">
                  <a:lumMod val="50000"/>
                </a:schemeClr>
              </a:buClr>
            </a:pPr>
            <a:r>
              <a:rPr lang="pt-PT" sz="2878" b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</a:rPr>
              <a:t>Resultados: começar a perceber melhor o tema do Projeto</a:t>
            </a:r>
          </a:p>
          <a:p>
            <a:pPr lvl="1">
              <a:lnSpc>
                <a:spcPct val="150000"/>
              </a:lnSpc>
              <a:spcBef>
                <a:spcPts val="1113"/>
              </a:spcBef>
              <a:spcAft>
                <a:spcPts val="3078"/>
              </a:spcAft>
              <a:buClr>
                <a:schemeClr val="accent6">
                  <a:lumMod val="50000"/>
                </a:schemeClr>
              </a:buClr>
            </a:pPr>
            <a:endParaRPr lang="pt-PT" sz="2878" b="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77"/>
            </a:endParaRPr>
          </a:p>
          <a:p>
            <a:pPr lvl="1">
              <a:lnSpc>
                <a:spcPct val="150000"/>
              </a:lnSpc>
              <a:spcBef>
                <a:spcPts val="1113"/>
              </a:spcBef>
              <a:spcAft>
                <a:spcPts val="3078"/>
              </a:spcAft>
              <a:buClr>
                <a:schemeClr val="accent6">
                  <a:lumMod val="50000"/>
                </a:schemeClr>
              </a:buClr>
            </a:pPr>
            <a:r>
              <a:rPr lang="pt-PT" sz="2878" b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</a:rPr>
              <a:t>Estado: 70% realizada</a:t>
            </a:r>
          </a:p>
          <a:p>
            <a:pPr lvl="1">
              <a:lnSpc>
                <a:spcPct val="150000"/>
              </a:lnSpc>
              <a:spcBef>
                <a:spcPts val="1113"/>
              </a:spcBef>
              <a:spcAft>
                <a:spcPts val="3078"/>
              </a:spcAft>
              <a:buClr>
                <a:schemeClr val="accent6">
                  <a:lumMod val="50000"/>
                </a:schemeClr>
              </a:buClr>
            </a:pPr>
            <a:endParaRPr lang="pt-PT" sz="2878" b="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77"/>
            </a:endParaRPr>
          </a:p>
          <a:p>
            <a:pPr lvl="1">
              <a:lnSpc>
                <a:spcPct val="150000"/>
              </a:lnSpc>
              <a:spcBef>
                <a:spcPts val="1113"/>
              </a:spcBef>
              <a:spcAft>
                <a:spcPts val="3078"/>
              </a:spcAft>
              <a:buClr>
                <a:schemeClr val="accent6">
                  <a:lumMod val="50000"/>
                </a:schemeClr>
              </a:buClr>
            </a:pPr>
            <a:endParaRPr lang="pt-PT" sz="2878" b="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7C84BF-001A-DFD8-20DA-6048AC3E0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424" y="12691754"/>
            <a:ext cx="5588000" cy="10160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3C847B33-7240-AB59-900D-0B1D0195C101}"/>
              </a:ext>
            </a:extLst>
          </p:cNvPr>
          <p:cNvGrpSpPr/>
          <p:nvPr/>
        </p:nvGrpSpPr>
        <p:grpSpPr>
          <a:xfrm>
            <a:off x="17548085" y="2998019"/>
            <a:ext cx="5718491" cy="7719962"/>
            <a:chOff x="17548085" y="2998019"/>
            <a:chExt cx="5718491" cy="7719962"/>
          </a:xfrm>
        </p:grpSpPr>
        <p:pic>
          <p:nvPicPr>
            <p:cNvPr id="7" name="Picture 8" descr="Alarm Ringing outline">
              <a:extLst>
                <a:ext uri="{FF2B5EF4-FFF2-40B4-BE49-F238E27FC236}">
                  <a16:creationId xmlns:a16="http://schemas.microsoft.com/office/drawing/2014/main" id="{2AA8A1DF-7A20-DDD1-2A95-D0A04E4373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12963" r="12963"/>
            <a:stretch/>
          </p:blipFill>
          <p:spPr bwMode="auto">
            <a:xfrm>
              <a:off x="17548085" y="2998019"/>
              <a:ext cx="5718491" cy="77199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CD86990-2078-60F8-E43C-0FBC292E5218}"/>
                </a:ext>
              </a:extLst>
            </p:cNvPr>
            <p:cNvSpPr txBox="1"/>
            <p:nvPr/>
          </p:nvSpPr>
          <p:spPr>
            <a:xfrm>
              <a:off x="17952499" y="9308123"/>
              <a:ext cx="4706738" cy="101566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PT" b="0" i="1" dirty="0"/>
                <a:t>Se quiserem usar imagens</a:t>
              </a:r>
            </a:p>
            <a:p>
              <a:r>
                <a:rPr lang="en-PT" b="0" i="1" dirty="0"/>
                <a:t>inserir aqui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76574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D7D99-45BD-4651-CCB3-869F1B5AB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4D715-DD00-0DAB-292B-A7409ACC0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576" y="105497"/>
            <a:ext cx="21999115" cy="2078878"/>
          </a:xfrm>
        </p:spPr>
        <p:txBody>
          <a:bodyPr>
            <a:normAutofit/>
          </a:bodyPr>
          <a:lstStyle/>
          <a:p>
            <a:r>
              <a:rPr lang="en-PT" sz="6000" dirty="0">
                <a:solidFill>
                  <a:schemeClr val="accent6">
                    <a:lumMod val="50000"/>
                  </a:schemeClr>
                </a:solidFill>
              </a:rPr>
              <a:t>Tarefas a realizar para esta apresentação</a:t>
            </a:r>
            <a:endParaRPr lang="en-PT" sz="6000" dirty="0">
              <a:solidFill>
                <a:schemeClr val="accent6">
                  <a:lumMod val="50000"/>
                </a:schemeClr>
              </a:solidFill>
              <a:latin typeface="Montserrat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9A331F-2D80-C868-5C8E-CC892F3E3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27D03-F97E-9F4B-AC1C-D15C8F2E7A31}" type="slidenum">
              <a:rPr lang="en-US" smtClean="0"/>
              <a:t>5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DAC02A9-DDFA-BA9B-B4DB-FB2BC2518BE2}"/>
              </a:ext>
            </a:extLst>
          </p:cNvPr>
          <p:cNvSpPr txBox="1">
            <a:spLocks/>
          </p:cNvSpPr>
          <p:nvPr/>
        </p:nvSpPr>
        <p:spPr>
          <a:xfrm>
            <a:off x="1380121" y="2184375"/>
            <a:ext cx="15732948" cy="9705181"/>
          </a:xfrm>
          <a:prstGeom prst="rect">
            <a:avLst/>
          </a:prstGeom>
          <a:noFill/>
        </p:spPr>
        <p:txBody>
          <a:bodyPr vert="horz" lIns="182878" tIns="91440" rIns="182878" bIns="9144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Gill Sans MT" panose="020B050202010402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accent1">
                    <a:lumMod val="50000"/>
                  </a:schemeClr>
                </a:solidFill>
                <a:latin typeface="Gill Sans MT" panose="020B0502020104020203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>
                    <a:lumMod val="50000"/>
                  </a:schemeClr>
                </a:solidFill>
                <a:latin typeface="Gill Sans MT" panose="020B0502020104020203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>
                    <a:lumMod val="50000"/>
                  </a:schemeClr>
                </a:solidFill>
                <a:latin typeface="Gill Sans MT" panose="020B0502020104020203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>
                    <a:lumMod val="50000"/>
                  </a:schemeClr>
                </a:solidFill>
                <a:latin typeface="Gill Sans MT" panose="020B050202010402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1113"/>
              </a:spcBef>
              <a:spcAft>
                <a:spcPts val="3078"/>
              </a:spcAft>
              <a:buClr>
                <a:schemeClr val="accent6">
                  <a:lumMod val="50000"/>
                </a:schemeClr>
              </a:buClr>
              <a:buNone/>
            </a:pPr>
            <a:r>
              <a:rPr lang="pt-PT" sz="305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</a:rPr>
              <a:t>Tarefa 2: Pesquisa de literatura e dados sobre o tema</a:t>
            </a:r>
          </a:p>
          <a:p>
            <a:pPr lvl="1">
              <a:lnSpc>
                <a:spcPct val="150000"/>
              </a:lnSpc>
              <a:spcBef>
                <a:spcPts val="1113"/>
              </a:spcBef>
              <a:spcAft>
                <a:spcPts val="3078"/>
              </a:spcAft>
              <a:buClr>
                <a:schemeClr val="accent6">
                  <a:lumMod val="50000"/>
                </a:schemeClr>
              </a:buClr>
            </a:pPr>
            <a:r>
              <a:rPr lang="pt-PT" sz="285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</a:rPr>
              <a:t>Descrição:  Procura e leitura de mais artigos e estudos sobre o tema em desenvolvimento; Identificação das bases de dados usadas nos documentos</a:t>
            </a:r>
            <a:endParaRPr lang="pt-PT" sz="2850" b="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77"/>
            </a:endParaRPr>
          </a:p>
          <a:p>
            <a:pPr lvl="1">
              <a:lnSpc>
                <a:spcPct val="150000"/>
              </a:lnSpc>
              <a:spcBef>
                <a:spcPts val="1113"/>
              </a:spcBef>
              <a:spcAft>
                <a:spcPts val="3078"/>
              </a:spcAft>
              <a:buClr>
                <a:schemeClr val="accent6">
                  <a:lumMod val="50000"/>
                </a:schemeClr>
              </a:buClr>
            </a:pPr>
            <a:endParaRPr lang="pt-PT" sz="2878" b="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77"/>
            </a:endParaRPr>
          </a:p>
          <a:p>
            <a:pPr lvl="1">
              <a:lnSpc>
                <a:spcPct val="150000"/>
              </a:lnSpc>
              <a:spcBef>
                <a:spcPts val="1113"/>
              </a:spcBef>
              <a:spcAft>
                <a:spcPts val="3078"/>
              </a:spcAft>
              <a:buClr>
                <a:schemeClr val="accent6">
                  <a:lumMod val="50000"/>
                </a:schemeClr>
              </a:buClr>
            </a:pPr>
            <a:r>
              <a:rPr lang="pt-PT" sz="285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/>
              </a:rPr>
              <a:t>Dificuldades: Seleção dos documentos tendo em conta a especificidade do tema; Falta de conhecimento técnico para ter critérios de seleção eficazes; Falta de estudos em que foram utilizados dados empíricos.</a:t>
            </a:r>
            <a:endParaRPr lang="pt-PT" sz="2850" b="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77"/>
            </a:endParaRPr>
          </a:p>
          <a:p>
            <a:pPr lvl="1">
              <a:lnSpc>
                <a:spcPct val="150000"/>
              </a:lnSpc>
              <a:spcBef>
                <a:spcPts val="1113"/>
              </a:spcBef>
              <a:spcAft>
                <a:spcPts val="3078"/>
              </a:spcAft>
              <a:buClr>
                <a:schemeClr val="accent6">
                  <a:lumMod val="50000"/>
                </a:schemeClr>
              </a:buClr>
            </a:pPr>
            <a:endParaRPr lang="pt-PT" sz="2878" b="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77"/>
            </a:endParaRPr>
          </a:p>
          <a:p>
            <a:pPr lvl="1">
              <a:lnSpc>
                <a:spcPct val="150000"/>
              </a:lnSpc>
              <a:spcBef>
                <a:spcPts val="1113"/>
              </a:spcBef>
              <a:spcAft>
                <a:spcPts val="3078"/>
              </a:spcAft>
              <a:buClr>
                <a:schemeClr val="accent6">
                  <a:lumMod val="50000"/>
                </a:schemeClr>
              </a:buClr>
            </a:pPr>
            <a:r>
              <a:rPr lang="pt-PT" sz="2878" b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</a:rPr>
              <a:t>Resultados: 5 estudos/revistas obtidos para futura análise</a:t>
            </a:r>
          </a:p>
          <a:p>
            <a:pPr lvl="1">
              <a:lnSpc>
                <a:spcPct val="150000"/>
              </a:lnSpc>
              <a:spcBef>
                <a:spcPts val="1113"/>
              </a:spcBef>
              <a:spcAft>
                <a:spcPts val="3078"/>
              </a:spcAft>
              <a:buClr>
                <a:schemeClr val="accent6">
                  <a:lumMod val="50000"/>
                </a:schemeClr>
              </a:buClr>
            </a:pPr>
            <a:endParaRPr lang="pt-PT" sz="2878" b="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77"/>
            </a:endParaRPr>
          </a:p>
          <a:p>
            <a:pPr lvl="1">
              <a:lnSpc>
                <a:spcPct val="150000"/>
              </a:lnSpc>
              <a:spcBef>
                <a:spcPts val="1113"/>
              </a:spcBef>
              <a:spcAft>
                <a:spcPts val="3078"/>
              </a:spcAft>
              <a:buClr>
                <a:schemeClr val="accent6">
                  <a:lumMod val="50000"/>
                </a:schemeClr>
              </a:buClr>
            </a:pPr>
            <a:r>
              <a:rPr lang="pt-PT" sz="2878" b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</a:rPr>
              <a:t>Estado: 30% realizada</a:t>
            </a:r>
          </a:p>
          <a:p>
            <a:pPr lvl="1">
              <a:lnSpc>
                <a:spcPct val="150000"/>
              </a:lnSpc>
              <a:spcBef>
                <a:spcPts val="1113"/>
              </a:spcBef>
              <a:spcAft>
                <a:spcPts val="3078"/>
              </a:spcAft>
              <a:buClr>
                <a:schemeClr val="accent6">
                  <a:lumMod val="50000"/>
                </a:schemeClr>
              </a:buClr>
            </a:pPr>
            <a:endParaRPr lang="pt-PT" sz="2878" b="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77"/>
            </a:endParaRPr>
          </a:p>
          <a:p>
            <a:pPr lvl="1">
              <a:lnSpc>
                <a:spcPct val="150000"/>
              </a:lnSpc>
              <a:spcBef>
                <a:spcPts val="1113"/>
              </a:spcBef>
              <a:spcAft>
                <a:spcPts val="3078"/>
              </a:spcAft>
              <a:buClr>
                <a:schemeClr val="accent6">
                  <a:lumMod val="50000"/>
                </a:schemeClr>
              </a:buClr>
            </a:pPr>
            <a:endParaRPr lang="pt-PT" sz="2878" b="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6718F3-412B-90C2-4CF8-C6BB71683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424" y="12691754"/>
            <a:ext cx="5588000" cy="10160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02B8487A-B473-AB93-745C-B14216E4AA04}"/>
              </a:ext>
            </a:extLst>
          </p:cNvPr>
          <p:cNvGrpSpPr/>
          <p:nvPr/>
        </p:nvGrpSpPr>
        <p:grpSpPr>
          <a:xfrm>
            <a:off x="17548085" y="2998019"/>
            <a:ext cx="5718491" cy="7719962"/>
            <a:chOff x="17548085" y="2998019"/>
            <a:chExt cx="5718491" cy="7719962"/>
          </a:xfrm>
        </p:grpSpPr>
        <p:pic>
          <p:nvPicPr>
            <p:cNvPr id="7" name="Picture 8" descr="Alarm Ringing outline">
              <a:extLst>
                <a:ext uri="{FF2B5EF4-FFF2-40B4-BE49-F238E27FC236}">
                  <a16:creationId xmlns:a16="http://schemas.microsoft.com/office/drawing/2014/main" id="{1E0934BB-2556-4D6C-2D43-134F608EC1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12963" r="12963"/>
            <a:stretch/>
          </p:blipFill>
          <p:spPr bwMode="auto">
            <a:xfrm>
              <a:off x="17548085" y="2998019"/>
              <a:ext cx="5718491" cy="77199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9C41978-E3C8-E58A-1C6E-B26D0E4666CD}"/>
                </a:ext>
              </a:extLst>
            </p:cNvPr>
            <p:cNvSpPr txBox="1"/>
            <p:nvPr/>
          </p:nvSpPr>
          <p:spPr>
            <a:xfrm>
              <a:off x="17932462" y="9308123"/>
              <a:ext cx="4746812" cy="101566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PT" b="0" i="1" dirty="0"/>
                <a:t>Se quiserem usar imagens</a:t>
              </a:r>
            </a:p>
            <a:p>
              <a:r>
                <a:rPr lang="en-PT" b="0" i="1" dirty="0"/>
                <a:t>inserir aqui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3858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01137-5CDD-6129-35E2-3148A1CAE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231" y="155399"/>
            <a:ext cx="15411514" cy="2078878"/>
          </a:xfrm>
        </p:spPr>
        <p:txBody>
          <a:bodyPr>
            <a:normAutofit/>
          </a:bodyPr>
          <a:lstStyle/>
          <a:p>
            <a:r>
              <a:rPr lang="en-PT" sz="6157" dirty="0">
                <a:solidFill>
                  <a:schemeClr val="accent6">
                    <a:lumMod val="50000"/>
                  </a:schemeClr>
                </a:solidFill>
              </a:rPr>
              <a:t>Objetivos para a próxima etapa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56D4D-59FD-BFC4-1536-58EFE27A95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424" y="2234277"/>
            <a:ext cx="14961795" cy="9567596"/>
          </a:xfrm>
        </p:spPr>
        <p:txBody>
          <a:bodyPr>
            <a:noAutofit/>
          </a:bodyPr>
          <a:lstStyle/>
          <a:p>
            <a:pPr marL="514350" indent="-514350">
              <a:lnSpc>
                <a:spcPct val="120000"/>
              </a:lnSpc>
              <a:spcBef>
                <a:spcPts val="12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dirty="0" err="1"/>
              <a:t>Continuar</a:t>
            </a:r>
            <a:r>
              <a:rPr lang="en-US" dirty="0"/>
              <a:t> a </a:t>
            </a:r>
            <a:r>
              <a:rPr lang="en-US" dirty="0" err="1"/>
              <a:t>pesquisa</a:t>
            </a:r>
            <a:r>
              <a:rPr lang="en-US" dirty="0"/>
              <a:t> de </a:t>
            </a:r>
            <a:r>
              <a:rPr lang="en-US" dirty="0" err="1"/>
              <a:t>literatura</a:t>
            </a:r>
            <a:r>
              <a:rPr lang="en-US" dirty="0"/>
              <a:t> e de bases de dados </a:t>
            </a:r>
            <a:r>
              <a:rPr lang="en-US" dirty="0" err="1"/>
              <a:t>relevantes</a:t>
            </a:r>
            <a:endParaRPr lang="en-US" dirty="0"/>
          </a:p>
          <a:p>
            <a:pPr marL="514350" indent="-514350">
              <a:lnSpc>
                <a:spcPct val="120000"/>
              </a:lnSpc>
              <a:spcBef>
                <a:spcPts val="12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US" dirty="0" err="1"/>
              <a:t>Compreender</a:t>
            </a:r>
            <a:r>
              <a:rPr lang="en-US" dirty="0"/>
              <a:t> </a:t>
            </a:r>
            <a:r>
              <a:rPr lang="en-US" dirty="0" err="1"/>
              <a:t>melhor</a:t>
            </a:r>
            <a:r>
              <a:rPr lang="en-US" dirty="0"/>
              <a:t> o </a:t>
            </a:r>
            <a:r>
              <a:rPr lang="en-US" dirty="0" err="1"/>
              <a:t>tema</a:t>
            </a:r>
            <a:endParaRPr lang="en-US" dirty="0"/>
          </a:p>
          <a:p>
            <a:pPr marL="514350" indent="-514350">
              <a:lnSpc>
                <a:spcPct val="120000"/>
              </a:lnSpc>
              <a:spcBef>
                <a:spcPts val="1200"/>
              </a:spcBef>
              <a:spcAft>
                <a:spcPts val="1800"/>
              </a:spcAft>
              <a:buFont typeface="+mj-lt"/>
              <a:buAutoNum type="arabicPeriod"/>
            </a:pPr>
            <a:endParaRPr lang="en-US" dirty="0"/>
          </a:p>
          <a:p>
            <a:pPr marL="514350" indent="-514350">
              <a:lnSpc>
                <a:spcPct val="120000"/>
              </a:lnSpc>
              <a:spcBef>
                <a:spcPts val="1200"/>
              </a:spcBef>
              <a:spcAft>
                <a:spcPts val="1800"/>
              </a:spcAft>
              <a:buFont typeface="+mj-lt"/>
              <a:buAutoNum type="arabicPeriod"/>
            </a:pPr>
            <a:endParaRPr lang="en-PT" dirty="0">
              <a:latin typeface="Montserrat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24109C-D03B-1C79-9481-01A83DCA2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6</a:t>
            </a:fld>
            <a:endParaRPr lang="cs-CZ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D75A20-7201-01A6-D4F2-D881CF76D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424" y="12691754"/>
            <a:ext cx="5588000" cy="10160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0496605-AFED-8AE3-3AF4-B0EEC8A19EC7}"/>
              </a:ext>
            </a:extLst>
          </p:cNvPr>
          <p:cNvGrpSpPr/>
          <p:nvPr/>
        </p:nvGrpSpPr>
        <p:grpSpPr>
          <a:xfrm>
            <a:off x="17548085" y="2998019"/>
            <a:ext cx="5718491" cy="7719962"/>
            <a:chOff x="17548085" y="2998019"/>
            <a:chExt cx="5718491" cy="7719962"/>
          </a:xfrm>
        </p:grpSpPr>
        <p:pic>
          <p:nvPicPr>
            <p:cNvPr id="8" name="Picture 8" descr="Alarm Ringing outline">
              <a:extLst>
                <a:ext uri="{FF2B5EF4-FFF2-40B4-BE49-F238E27FC236}">
                  <a16:creationId xmlns:a16="http://schemas.microsoft.com/office/drawing/2014/main" id="{CE4E2857-BE57-A891-D40F-57FCA6765F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12963" r="12963"/>
            <a:stretch/>
          </p:blipFill>
          <p:spPr bwMode="auto">
            <a:xfrm>
              <a:off x="17548085" y="2998019"/>
              <a:ext cx="5718491" cy="77199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A458A2F-1C32-0F2F-118F-8CA171D85C0E}"/>
                </a:ext>
              </a:extLst>
            </p:cNvPr>
            <p:cNvSpPr txBox="1"/>
            <p:nvPr/>
          </p:nvSpPr>
          <p:spPr>
            <a:xfrm>
              <a:off x="17952499" y="9308123"/>
              <a:ext cx="4706738" cy="101566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PT" b="0" i="1" dirty="0"/>
                <a:t>Se quiserem usar imagens</a:t>
              </a:r>
            </a:p>
            <a:p>
              <a:r>
                <a:rPr lang="en-PT" b="0" i="1" dirty="0"/>
                <a:t>inserir aqui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24115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43378-F47E-2F74-BB44-7E6261076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 dirty="0"/>
              <a:t>Planeamento temporal do projeto – Estado atual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A0AEDA0-D8F1-77A4-7125-FC3069AEEC3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607433536"/>
              </p:ext>
            </p:extLst>
          </p:nvPr>
        </p:nvGraphicFramePr>
        <p:xfrm>
          <a:off x="1638000" y="2650244"/>
          <a:ext cx="21765697" cy="8415511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8840529">
                  <a:extLst>
                    <a:ext uri="{9D8B030D-6E8A-4147-A177-3AD203B41FA5}">
                      <a16:colId xmlns:a16="http://schemas.microsoft.com/office/drawing/2014/main" val="3899938018"/>
                    </a:ext>
                  </a:extLst>
                </a:gridCol>
                <a:gridCol w="1210962">
                  <a:extLst>
                    <a:ext uri="{9D8B030D-6E8A-4147-A177-3AD203B41FA5}">
                      <a16:colId xmlns:a16="http://schemas.microsoft.com/office/drawing/2014/main" val="896091720"/>
                    </a:ext>
                  </a:extLst>
                </a:gridCol>
                <a:gridCol w="1136822">
                  <a:extLst>
                    <a:ext uri="{9D8B030D-6E8A-4147-A177-3AD203B41FA5}">
                      <a16:colId xmlns:a16="http://schemas.microsoft.com/office/drawing/2014/main" val="175189562"/>
                    </a:ext>
                  </a:extLst>
                </a:gridCol>
                <a:gridCol w="1235676">
                  <a:extLst>
                    <a:ext uri="{9D8B030D-6E8A-4147-A177-3AD203B41FA5}">
                      <a16:colId xmlns:a16="http://schemas.microsoft.com/office/drawing/2014/main" val="4148952532"/>
                    </a:ext>
                  </a:extLst>
                </a:gridCol>
                <a:gridCol w="1136821">
                  <a:extLst>
                    <a:ext uri="{9D8B030D-6E8A-4147-A177-3AD203B41FA5}">
                      <a16:colId xmlns:a16="http://schemas.microsoft.com/office/drawing/2014/main" val="557574652"/>
                    </a:ext>
                  </a:extLst>
                </a:gridCol>
                <a:gridCol w="1161535">
                  <a:extLst>
                    <a:ext uri="{9D8B030D-6E8A-4147-A177-3AD203B41FA5}">
                      <a16:colId xmlns:a16="http://schemas.microsoft.com/office/drawing/2014/main" val="1334380279"/>
                    </a:ext>
                  </a:extLst>
                </a:gridCol>
                <a:gridCol w="1136822">
                  <a:extLst>
                    <a:ext uri="{9D8B030D-6E8A-4147-A177-3AD203B41FA5}">
                      <a16:colId xmlns:a16="http://schemas.microsoft.com/office/drawing/2014/main" val="419879338"/>
                    </a:ext>
                  </a:extLst>
                </a:gridCol>
                <a:gridCol w="1186249">
                  <a:extLst>
                    <a:ext uri="{9D8B030D-6E8A-4147-A177-3AD203B41FA5}">
                      <a16:colId xmlns:a16="http://schemas.microsoft.com/office/drawing/2014/main" val="986196644"/>
                    </a:ext>
                  </a:extLst>
                </a:gridCol>
                <a:gridCol w="1161535">
                  <a:extLst>
                    <a:ext uri="{9D8B030D-6E8A-4147-A177-3AD203B41FA5}">
                      <a16:colId xmlns:a16="http://schemas.microsoft.com/office/drawing/2014/main" val="2741790562"/>
                    </a:ext>
                  </a:extLst>
                </a:gridCol>
                <a:gridCol w="1210962">
                  <a:extLst>
                    <a:ext uri="{9D8B030D-6E8A-4147-A177-3AD203B41FA5}">
                      <a16:colId xmlns:a16="http://schemas.microsoft.com/office/drawing/2014/main" val="1557862346"/>
                    </a:ext>
                  </a:extLst>
                </a:gridCol>
                <a:gridCol w="1186249">
                  <a:extLst>
                    <a:ext uri="{9D8B030D-6E8A-4147-A177-3AD203B41FA5}">
                      <a16:colId xmlns:a16="http://schemas.microsoft.com/office/drawing/2014/main" val="505093947"/>
                    </a:ext>
                  </a:extLst>
                </a:gridCol>
                <a:gridCol w="1161535">
                  <a:extLst>
                    <a:ext uri="{9D8B030D-6E8A-4147-A177-3AD203B41FA5}">
                      <a16:colId xmlns:a16="http://schemas.microsoft.com/office/drawing/2014/main" val="3768912164"/>
                    </a:ext>
                  </a:extLst>
                </a:gridCol>
              </a:tblGrid>
              <a:tr h="462246">
                <a:tc>
                  <a:txBody>
                    <a:bodyPr/>
                    <a:lstStyle/>
                    <a:p>
                      <a:pPr algn="ctr"/>
                      <a:r>
                        <a:rPr lang="en-PT" dirty="0"/>
                        <a:t>Atividades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PT" sz="2000" dirty="0"/>
                        <a:t>Semana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Semana 3</a:t>
                      </a:r>
                    </a:p>
                    <a:p>
                      <a:endParaRPr lang="en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7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Semana 4</a:t>
                      </a:r>
                    </a:p>
                    <a:p>
                      <a:endParaRPr lang="en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7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Semana 5</a:t>
                      </a:r>
                    </a:p>
                    <a:p>
                      <a:endParaRPr lang="en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7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Semana 6</a:t>
                      </a:r>
                    </a:p>
                    <a:p>
                      <a:endParaRPr lang="en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7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Semana 7</a:t>
                      </a:r>
                    </a:p>
                    <a:p>
                      <a:endParaRPr lang="en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7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Semana 8</a:t>
                      </a:r>
                    </a:p>
                    <a:p>
                      <a:endParaRPr lang="en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7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Semana 9</a:t>
                      </a:r>
                    </a:p>
                    <a:p>
                      <a:endParaRPr lang="en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7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Semana 10</a:t>
                      </a:r>
                    </a:p>
                    <a:p>
                      <a:endParaRPr lang="en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7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Semana 11</a:t>
                      </a:r>
                    </a:p>
                    <a:p>
                      <a:endParaRPr lang="en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7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Semana 12</a:t>
                      </a:r>
                    </a:p>
                    <a:p>
                      <a:endParaRPr lang="en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46801"/>
                  </a:ext>
                </a:extLst>
              </a:tr>
              <a:tr h="1194284">
                <a:tc>
                  <a:txBody>
                    <a:bodyPr/>
                    <a:lstStyle/>
                    <a:p>
                      <a:r>
                        <a:rPr lang="en-PT" dirty="0"/>
                        <a:t>Compreensão do domínio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0123751"/>
                  </a:ext>
                </a:extLst>
              </a:tr>
              <a:tr h="1194284">
                <a:tc>
                  <a:txBody>
                    <a:bodyPr/>
                    <a:lstStyle/>
                    <a:p>
                      <a:r>
                        <a:rPr lang="en-PT" dirty="0"/>
                        <a:t>Compreensão dos dados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266376"/>
                  </a:ext>
                </a:extLst>
              </a:tr>
              <a:tr h="1194284">
                <a:tc>
                  <a:txBody>
                    <a:bodyPr/>
                    <a:lstStyle/>
                    <a:p>
                      <a:r>
                        <a:rPr lang="en-PT" dirty="0"/>
                        <a:t>Preparação de dados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6922981"/>
                  </a:ext>
                </a:extLst>
              </a:tr>
              <a:tr h="1194284">
                <a:tc>
                  <a:txBody>
                    <a:bodyPr/>
                    <a:lstStyle/>
                    <a:p>
                      <a:r>
                        <a:rPr lang="en-PT" dirty="0"/>
                        <a:t>Modelação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8493611"/>
                  </a:ext>
                </a:extLst>
              </a:tr>
              <a:tr h="1194284">
                <a:tc>
                  <a:txBody>
                    <a:bodyPr/>
                    <a:lstStyle/>
                    <a:p>
                      <a:r>
                        <a:rPr lang="en-PT" dirty="0"/>
                        <a:t>Otimização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7671428"/>
                  </a:ext>
                </a:extLst>
              </a:tr>
              <a:tr h="1194284">
                <a:tc>
                  <a:txBody>
                    <a:bodyPr/>
                    <a:lstStyle/>
                    <a:p>
                      <a:r>
                        <a:rPr lang="en-PT" dirty="0"/>
                        <a:t>Comunicação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37123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073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743B4-D26D-1E84-4012-621972ABA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7614" y="146135"/>
            <a:ext cx="22141155" cy="1756221"/>
          </a:xfrm>
        </p:spPr>
        <p:txBody>
          <a:bodyPr/>
          <a:lstStyle/>
          <a:p>
            <a:r>
              <a:rPr lang="en-PT" dirty="0">
                <a:solidFill>
                  <a:schemeClr val="accent6">
                    <a:lumMod val="50000"/>
                  </a:schemeClr>
                </a:solidFill>
                <a:latin typeface="Montserrat" pitchFamily="2" charset="77"/>
              </a:rPr>
              <a:t>Próximo responsável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7272F-15AD-EF27-EF03-1935040F5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6885" y="4324864"/>
            <a:ext cx="22181884" cy="4127157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PT" sz="3200" b="1" dirty="0">
                <a:solidFill>
                  <a:srgbClr val="218EB8"/>
                </a:solidFill>
              </a:rPr>
              <a:t>123418 Francisco Rosa – Responsável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PT" sz="3200" b="1" dirty="0">
                <a:solidFill>
                  <a:schemeClr val="accent6">
                    <a:lumMod val="50000"/>
                  </a:schemeClr>
                </a:solidFill>
              </a:rPr>
              <a:t>123436 Marcos Mestre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PT" sz="3200" b="1" dirty="0">
                <a:solidFill>
                  <a:schemeClr val="accent6">
                    <a:lumMod val="50000"/>
                  </a:schemeClr>
                </a:solidFill>
              </a:rPr>
              <a:t>123385 Tiago Woodger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FA7A7-A02E-2CD0-9C34-BA9A58D42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pPr/>
              <a:t>8</a:t>
            </a:fld>
            <a:endParaRPr lang="cs-CZ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5AB219-9112-2F19-B6DC-F2A37E35C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424" y="12691754"/>
            <a:ext cx="55880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15449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3BCCF-2DCB-3D0C-75AF-F2F9C15CB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5475723"/>
            <a:ext cx="21031200" cy="5705475"/>
          </a:xfrm>
        </p:spPr>
        <p:txBody>
          <a:bodyPr anchor="ctr">
            <a:normAutofit/>
          </a:bodyPr>
          <a:lstStyle/>
          <a:p>
            <a:pPr algn="ctr"/>
            <a:r>
              <a:rPr lang="en-PT" sz="7200" i="1" dirty="0">
                <a:solidFill>
                  <a:schemeClr val="accent6">
                    <a:lumMod val="75000"/>
                  </a:schemeClr>
                </a:solidFill>
              </a:rPr>
              <a:t>Até para a semana!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C5ACE-9E5F-1647-1638-9302DFA34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9</a:t>
            </a:fld>
            <a:endParaRPr lang="cs-CZ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738E7BB-530B-3374-EDC8-8878BFACB1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67359" y="12712701"/>
            <a:ext cx="5486349" cy="730251"/>
          </a:xfrm>
        </p:spPr>
        <p:txBody>
          <a:bodyPr/>
          <a:lstStyle/>
          <a:p>
            <a:r>
              <a:rPr lang="en-US" dirty="0"/>
              <a:t>2025</a:t>
            </a:r>
          </a:p>
        </p:txBody>
      </p:sp>
      <p:pic>
        <p:nvPicPr>
          <p:cNvPr id="4" name="Picture 3" descr="A colorful graphics and graphs&#10;&#10;AI-generated content may be incorrect.">
            <a:extLst>
              <a:ext uri="{FF2B5EF4-FFF2-40B4-BE49-F238E27FC236}">
                <a16:creationId xmlns:a16="http://schemas.microsoft.com/office/drawing/2014/main" id="{F58CDEA2-36AF-4D00-9EBC-199FD4E455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5800" y="1676400"/>
            <a:ext cx="77724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144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PFACD_template">
  <a:themeElements>
    <a:clrScheme name="Custom 5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021127"/>
      </a:accent1>
      <a:accent2>
        <a:srgbClr val="072B62"/>
      </a:accent2>
      <a:accent3>
        <a:srgbClr val="297FD5"/>
      </a:accent3>
      <a:accent4>
        <a:srgbClr val="021127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ow do animals perceive the world - by Lifeliqe.pptx" id="{E47F77CD-2E36-4AF3-B8DF-255CB5E0FC16}" vid="{80038E1F-B0D4-46F5-910A-D96E49782D25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E6DFECDE687AF41948389D58B15CDC2" ma:contentTypeVersion="10" ma:contentTypeDescription="Criar um novo documento." ma:contentTypeScope="" ma:versionID="d4087476a8f89024109bc2ba925f2dfc">
  <xsd:schema xmlns:xsd="http://www.w3.org/2001/XMLSchema" xmlns:xs="http://www.w3.org/2001/XMLSchema" xmlns:p="http://schemas.microsoft.com/office/2006/metadata/properties" xmlns:ns3="268d5bdf-987d-4419-a945-b60c2fd06274" targetNamespace="http://schemas.microsoft.com/office/2006/metadata/properties" ma:root="true" ma:fieldsID="f98de75cdea64074e67a56acf29b6249" ns3:_="">
    <xsd:import namespace="268d5bdf-987d-4419-a945-b60c2fd0627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8d5bdf-987d-4419-a945-b60c2fd062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68d5bdf-987d-4419-a945-b60c2fd06274" xsi:nil="true"/>
  </documentManagement>
</p:properties>
</file>

<file path=customXml/itemProps1.xml><?xml version="1.0" encoding="utf-8"?>
<ds:datastoreItem xmlns:ds="http://schemas.openxmlformats.org/officeDocument/2006/customXml" ds:itemID="{B1774CEA-3D27-4884-9704-4DCC0097A18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F442654-67B7-475D-A438-748ED59492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68d5bdf-987d-4419-a945-b60c2fd062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D74241A-3268-4E46-BDFB-1043C583CD8D}">
  <ds:schemaRefs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www.w3.org/XML/1998/namespace"/>
    <ds:schemaRef ds:uri="http://schemas.microsoft.com/office/2006/metadata/properties"/>
    <ds:schemaRef ds:uri="http://purl.org/dc/terms/"/>
    <ds:schemaRef ds:uri="http://schemas.openxmlformats.org/package/2006/metadata/core-properties"/>
    <ds:schemaRef ds:uri="268d5bdf-987d-4419-a945-b60c2fd06274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2466</TotalTime>
  <Words>344</Words>
  <Application>Microsoft Office PowerPoint</Application>
  <PresentationFormat>Custom</PresentationFormat>
  <Paragraphs>85</Paragraphs>
  <Slides>9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PFACD_template</vt:lpstr>
      <vt:lpstr>Projeto Final Aplicado em Ciência de Dados</vt:lpstr>
      <vt:lpstr>Agenda</vt:lpstr>
      <vt:lpstr>PowerPoint Presentation</vt:lpstr>
      <vt:lpstr>Tarefas a realizar</vt:lpstr>
      <vt:lpstr>Tarefas a realizar para esta apresentação</vt:lpstr>
      <vt:lpstr>Objetivos para a próxima etapa</vt:lpstr>
      <vt:lpstr>Planeamento temporal do projeto – Estado atual</vt:lpstr>
      <vt:lpstr>Próximo responsável</vt:lpstr>
      <vt:lpstr>Até para a semana!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Rodrigo Veloso</dc:creator>
  <cp:lastModifiedBy>Francisco da Silva Santos Rosa</cp:lastModifiedBy>
  <cp:revision>32</cp:revision>
  <cp:lastPrinted>2026-02-09T09:41:23Z</cp:lastPrinted>
  <dcterms:modified xsi:type="dcterms:W3CDTF">2026-02-25T14:44:13Z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0x0101000E6DFECDE687AF41948389D58B15CDC2</vt:lpwstr>
  </property>
</Properties>
</file>